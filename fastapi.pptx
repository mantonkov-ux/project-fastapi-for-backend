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87" r:id="rId3"/>
    <p:sldId id="309" r:id="rId4"/>
    <p:sldId id="312" r:id="rId5"/>
    <p:sldId id="311" r:id="rId6"/>
    <p:sldId id="310" r:id="rId7"/>
    <p:sldId id="317" r:id="rId8"/>
    <p:sldId id="314" r:id="rId9"/>
    <p:sldId id="315" r:id="rId10"/>
    <p:sldId id="318" r:id="rId11"/>
    <p:sldId id="319" r:id="rId12"/>
    <p:sldId id="320" r:id="rId13"/>
    <p:sldId id="321" r:id="rId14"/>
    <p:sldId id="32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9886"/>
    <a:srgbClr val="E6E6E6"/>
    <a:srgbClr val="01B5E6"/>
    <a:srgbClr val="F8F8F8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6437" autoAdjust="0"/>
  </p:normalViewPr>
  <p:slideViewPr>
    <p:cSldViewPr snapToGrid="0" showGuides="1">
      <p:cViewPr varScale="1">
        <p:scale>
          <a:sx n="116" d="100"/>
          <a:sy n="116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sz="2000" dirty="0" smtClean="0"/>
            <a:t>Веб-фреймворк на Python, который позволяет быстро создавать BackEnd-приложения и REST API</a:t>
          </a:r>
        </a:p>
        <a:p>
          <a:pPr rtl="0"/>
          <a:r>
            <a:rPr lang="ru-RU" sz="2000" dirty="0" smtClean="0"/>
            <a:t>Создан Себастьяном Рамиресом в 2018 году</a:t>
          </a:r>
          <a:endParaRPr lang="ru-RU" sz="2000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 sz="2000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 sz="2000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 custScaleY="49803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b="1" dirty="0" smtClean="0"/>
            <a:t>HTTP (HyperText Transfer Protocol)</a:t>
          </a:r>
          <a:r>
            <a:rPr lang="ru-RU" dirty="0" smtClean="0"/>
            <a:t> — протокол передачи данных между клиентом и сервером в сети, который позволяет обмениваться веб-страницами в формате </a:t>
          </a:r>
          <a:r>
            <a:rPr lang="ru-RU" b="1" dirty="0" smtClean="0"/>
            <a:t>HTML</a:t>
          </a:r>
          <a:r>
            <a:rPr lang="ru-RU" dirty="0" smtClean="0"/>
            <a:t>, файлами и изображениями как бинарными данными, а также структурированными данными в форматах </a:t>
          </a:r>
          <a:r>
            <a:rPr lang="ru-RU" b="1" dirty="0" smtClean="0"/>
            <a:t>JSON</a:t>
          </a:r>
          <a:r>
            <a:rPr lang="ru-RU" dirty="0" smtClean="0"/>
            <a:t> и </a:t>
          </a:r>
          <a:r>
            <a:rPr lang="ru-RU" b="1" dirty="0" smtClean="0"/>
            <a:t>XML</a:t>
          </a:r>
          <a:endParaRPr lang="ru-RU" b="1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 custLinFactNeighborX="6120" custLinFactNeighborY="1014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b="1" dirty="0" smtClean="0"/>
            <a:t>Классический веб </a:t>
          </a:r>
          <a:r>
            <a:rPr lang="ru-RU" dirty="0" smtClean="0"/>
            <a:t>— это способ обмена данными, когда сервер формирует и отдает готовые HTML-страницы для отображения в браузере, а не структурированные данные для обработки приложением</a:t>
          </a:r>
          <a:endParaRPr lang="ru-RU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 custLinFactNeighborX="5022" custLinFactNeighborY="-290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>
    <a:effectLst>
      <a:outerShdw blurRad="76200" dir="18900000" sy="23000" kx="-1200000" algn="bl" rotWithShape="0">
        <a:prstClr val="black">
          <a:alpha val="2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dirty="0" smtClean="0"/>
            <a:t>Способ обмена структурированными данными между клиентом и сервером через HTTP-запросы в формате JSON или XML</a:t>
          </a:r>
          <a:endParaRPr lang="ru-RU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dirty="0" smtClean="0"/>
            <a:t>FastAPI в качестве Backend‑решения служит для создания высокопроизводительного серверного приложения, выполняющего роль API‑сервера</a:t>
          </a:r>
          <a:endParaRPr lang="ru-RU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B9B032-6B5D-49D5-8060-A00BABDED93E}" type="doc">
      <dgm:prSet loTypeId="urn:microsoft.com/office/officeart/2005/8/layout/cycle3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794D461E-E9A3-45DF-905D-E8D4B2C254BE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800" dirty="0" smtClean="0"/>
            <a:t>Uvicorn</a:t>
          </a:r>
          <a:endParaRPr lang="ru-RU" sz="1800" dirty="0"/>
        </a:p>
      </dgm:t>
    </dgm:pt>
    <dgm:pt modelId="{321C3BAC-A562-44CC-894D-89AF93050BDA}" type="parTrans" cxnId="{0389B653-D1EC-46D2-AA78-440C6F7C36EB}">
      <dgm:prSet/>
      <dgm:spPr/>
      <dgm:t>
        <a:bodyPr/>
        <a:lstStyle/>
        <a:p>
          <a:endParaRPr lang="ru-RU" sz="1800"/>
        </a:p>
      </dgm:t>
    </dgm:pt>
    <dgm:pt modelId="{3B476BFE-683C-49AC-9BA0-7A26B8953826}" type="sibTrans" cxnId="{0389B653-D1EC-46D2-AA78-440C6F7C36EB}">
      <dgm:prSet/>
      <dgm:spPr/>
      <dgm:t>
        <a:bodyPr/>
        <a:lstStyle/>
        <a:p>
          <a:endParaRPr lang="ru-RU" sz="1800"/>
        </a:p>
      </dgm:t>
    </dgm:pt>
    <dgm:pt modelId="{66BAC29D-6C2A-4721-BE49-EB225D8C766D}">
      <dgm:prSet phldrT="[Текст]" custT="1"/>
      <dgm:spPr/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Starlette</a:t>
          </a:r>
          <a:endParaRPr lang="ru-RU" sz="1800" dirty="0">
            <a:solidFill>
              <a:schemeClr val="tx1"/>
            </a:solidFill>
          </a:endParaRPr>
        </a:p>
      </dgm:t>
    </dgm:pt>
    <dgm:pt modelId="{1DAC171A-DE52-4439-BA79-A8B01F4F5E03}" type="parTrans" cxnId="{EB898444-22E6-4CEF-8684-6134BB02FEE5}">
      <dgm:prSet/>
      <dgm:spPr/>
      <dgm:t>
        <a:bodyPr/>
        <a:lstStyle/>
        <a:p>
          <a:endParaRPr lang="ru-RU" sz="1800"/>
        </a:p>
      </dgm:t>
    </dgm:pt>
    <dgm:pt modelId="{A3A1075A-8102-4736-B450-93EFC33E2B34}" type="sibTrans" cxnId="{EB898444-22E6-4CEF-8684-6134BB02FEE5}">
      <dgm:prSet/>
      <dgm:spPr/>
      <dgm:t>
        <a:bodyPr/>
        <a:lstStyle/>
        <a:p>
          <a:endParaRPr lang="ru-RU" sz="1800"/>
        </a:p>
      </dgm:t>
    </dgm:pt>
    <dgm:pt modelId="{F033F21A-88F0-418A-9B78-44E8B3535A70}">
      <dgm:prSet phldrT="[Текст]" custT="1"/>
      <dgm:spPr>
        <a:solidFill>
          <a:srgbClr val="389886"/>
        </a:solidFill>
      </dgm:spPr>
      <dgm:t>
        <a:bodyPr/>
        <a:lstStyle/>
        <a:p>
          <a:r>
            <a:rPr lang="en-US" sz="1800" dirty="0" smtClean="0"/>
            <a:t>FastAPI</a:t>
          </a:r>
          <a:endParaRPr lang="ru-RU" sz="1800" dirty="0"/>
        </a:p>
      </dgm:t>
    </dgm:pt>
    <dgm:pt modelId="{FFA38D20-0537-4D64-BB07-EE28530B386B}" type="parTrans" cxnId="{024204FB-8C65-4241-96E1-EBFC232B35F8}">
      <dgm:prSet/>
      <dgm:spPr/>
      <dgm:t>
        <a:bodyPr/>
        <a:lstStyle/>
        <a:p>
          <a:endParaRPr lang="ru-RU" sz="1800"/>
        </a:p>
      </dgm:t>
    </dgm:pt>
    <dgm:pt modelId="{D7EE79F0-6C68-4E5B-A27A-27AEA2F4ED78}" type="sibTrans" cxnId="{024204FB-8C65-4241-96E1-EBFC232B35F8}">
      <dgm:prSet/>
      <dgm:spPr/>
      <dgm:t>
        <a:bodyPr/>
        <a:lstStyle/>
        <a:p>
          <a:endParaRPr lang="ru-RU" sz="1800"/>
        </a:p>
      </dgm:t>
    </dgm:pt>
    <dgm:pt modelId="{8908DCE5-D33E-471F-AFA3-5DB8D23DE374}">
      <dgm:prSet phldrT="[Текст]" custT="1"/>
      <dgm:spPr>
        <a:solidFill>
          <a:srgbClr val="FFC000"/>
        </a:solidFill>
      </dgm:spPr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Starlette</a:t>
          </a:r>
          <a:endParaRPr lang="ru-RU" sz="1800" dirty="0">
            <a:solidFill>
              <a:schemeClr val="tx1"/>
            </a:solidFill>
          </a:endParaRPr>
        </a:p>
      </dgm:t>
    </dgm:pt>
    <dgm:pt modelId="{18D892D4-C6F0-471A-882B-7F7B58D6DD31}" type="parTrans" cxnId="{F2FC6109-C1D9-4B11-81F0-B984000B2BF1}">
      <dgm:prSet/>
      <dgm:spPr/>
      <dgm:t>
        <a:bodyPr/>
        <a:lstStyle/>
        <a:p>
          <a:endParaRPr lang="ru-RU" sz="1800"/>
        </a:p>
      </dgm:t>
    </dgm:pt>
    <dgm:pt modelId="{76393AE4-4B06-4A05-AC50-F3846F968223}" type="sibTrans" cxnId="{F2FC6109-C1D9-4B11-81F0-B984000B2BF1}">
      <dgm:prSet/>
      <dgm:spPr/>
      <dgm:t>
        <a:bodyPr/>
        <a:lstStyle/>
        <a:p>
          <a:endParaRPr lang="ru-RU" sz="1800"/>
        </a:p>
      </dgm:t>
    </dgm:pt>
    <dgm:pt modelId="{2C2DA7E8-F766-460D-B028-F79E840E4495}">
      <dgm:prSet phldrT="[Текст]" custT="1"/>
      <dgm:spPr/>
      <dgm:t>
        <a:bodyPr/>
        <a:lstStyle/>
        <a:p>
          <a:r>
            <a:rPr lang="ru-RU" sz="1800" dirty="0" smtClean="0"/>
            <a:t>Запрос </a:t>
          </a:r>
          <a:r>
            <a:rPr lang="en-US" sz="1800" dirty="0" smtClean="0"/>
            <a:t>HTTP </a:t>
          </a:r>
          <a:r>
            <a:rPr lang="ru-RU" sz="1800" dirty="0" smtClean="0"/>
            <a:t>от клиента</a:t>
          </a:r>
          <a:endParaRPr lang="ru-RU" sz="1800" dirty="0"/>
        </a:p>
      </dgm:t>
    </dgm:pt>
    <dgm:pt modelId="{8D66C9FF-0C7C-4689-A538-0880BF6893A9}" type="parTrans" cxnId="{B3AF9CD0-CFBB-4EC7-8EF6-9EDFD9A44AE4}">
      <dgm:prSet/>
      <dgm:spPr/>
      <dgm:t>
        <a:bodyPr/>
        <a:lstStyle/>
        <a:p>
          <a:endParaRPr lang="ru-RU" sz="1800"/>
        </a:p>
      </dgm:t>
    </dgm:pt>
    <dgm:pt modelId="{5865B1EB-65A1-490D-B3C4-6CAE6EBB75F1}" type="sibTrans" cxnId="{B3AF9CD0-CFBB-4EC7-8EF6-9EDFD9A44AE4}">
      <dgm:prSet/>
      <dgm:spPr/>
      <dgm:t>
        <a:bodyPr/>
        <a:lstStyle/>
        <a:p>
          <a:endParaRPr lang="ru-RU" sz="1800"/>
        </a:p>
      </dgm:t>
    </dgm:pt>
    <dgm:pt modelId="{2F2D762E-B009-4CE3-AFEC-60CAB965E344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800" dirty="0" smtClean="0"/>
            <a:t>Uvicorn</a:t>
          </a:r>
          <a:endParaRPr lang="ru-RU" sz="1800" dirty="0"/>
        </a:p>
      </dgm:t>
    </dgm:pt>
    <dgm:pt modelId="{5985F902-9272-4750-91FC-71014E29BD8D}" type="parTrans" cxnId="{6A30D985-1130-419B-A72D-293C2AFB7F01}">
      <dgm:prSet/>
      <dgm:spPr/>
      <dgm:t>
        <a:bodyPr/>
        <a:lstStyle/>
        <a:p>
          <a:endParaRPr lang="ru-RU" sz="1800"/>
        </a:p>
      </dgm:t>
    </dgm:pt>
    <dgm:pt modelId="{74EC87C2-839F-482D-9ED4-270A53C0A228}" type="sibTrans" cxnId="{6A30D985-1130-419B-A72D-293C2AFB7F01}">
      <dgm:prSet/>
      <dgm:spPr/>
      <dgm:t>
        <a:bodyPr/>
        <a:lstStyle/>
        <a:p>
          <a:endParaRPr lang="ru-RU" sz="1800"/>
        </a:p>
      </dgm:t>
    </dgm:pt>
    <dgm:pt modelId="{49F91B13-F52E-480B-AA3A-F7B045F120D6}">
      <dgm:prSet phldrT="[Текст]" custT="1"/>
      <dgm:spPr>
        <a:solidFill>
          <a:schemeClr val="accent2"/>
        </a:solidFill>
      </dgm:spPr>
      <dgm:t>
        <a:bodyPr/>
        <a:lstStyle/>
        <a:p>
          <a:r>
            <a:rPr lang="ru-RU" sz="1800" dirty="0" smtClean="0"/>
            <a:t>Ответ клиенту</a:t>
          </a:r>
          <a:endParaRPr lang="ru-RU" sz="1800" dirty="0"/>
        </a:p>
      </dgm:t>
    </dgm:pt>
    <dgm:pt modelId="{EEF73D18-FA0C-4AC6-9B7D-A398A59F577B}" type="parTrans" cxnId="{AEB50EDB-0994-4639-9753-D9046FD9D7E8}">
      <dgm:prSet/>
      <dgm:spPr/>
      <dgm:t>
        <a:bodyPr/>
        <a:lstStyle/>
        <a:p>
          <a:endParaRPr lang="ru-RU" sz="1800"/>
        </a:p>
      </dgm:t>
    </dgm:pt>
    <dgm:pt modelId="{9ED50640-14D0-406B-8263-39528DAC567E}" type="sibTrans" cxnId="{AEB50EDB-0994-4639-9753-D9046FD9D7E8}">
      <dgm:prSet/>
      <dgm:spPr/>
      <dgm:t>
        <a:bodyPr/>
        <a:lstStyle/>
        <a:p>
          <a:endParaRPr lang="ru-RU" sz="1800"/>
        </a:p>
      </dgm:t>
    </dgm:pt>
    <dgm:pt modelId="{C86340A2-19D8-4EC7-B81E-F68445072DBE}" type="pres">
      <dgm:prSet presAssocID="{B1B9B032-6B5D-49D5-8060-A00BABDED9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18C1DE3-5E40-4861-86B8-66BC54FAE1A5}" type="pres">
      <dgm:prSet presAssocID="{B1B9B032-6B5D-49D5-8060-A00BABDED93E}" presName="cycle" presStyleCnt="0"/>
      <dgm:spPr/>
      <dgm:t>
        <a:bodyPr/>
        <a:lstStyle/>
        <a:p>
          <a:endParaRPr lang="ru-RU"/>
        </a:p>
      </dgm:t>
    </dgm:pt>
    <dgm:pt modelId="{0679BF2A-2E88-49F0-8FB6-9D27AC8BB37D}" type="pres">
      <dgm:prSet presAssocID="{2C2DA7E8-F766-460D-B028-F79E840E4495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536467-1B8C-4BA2-8DB4-D615B76AD511}" type="pres">
      <dgm:prSet presAssocID="{5865B1EB-65A1-490D-B3C4-6CAE6EBB75F1}" presName="sibTransFirstNode" presStyleLbl="bgShp" presStyleIdx="0" presStyleCnt="1"/>
      <dgm:spPr/>
      <dgm:t>
        <a:bodyPr/>
        <a:lstStyle/>
        <a:p>
          <a:endParaRPr lang="ru-RU"/>
        </a:p>
      </dgm:t>
    </dgm:pt>
    <dgm:pt modelId="{1C81A425-BBB1-4594-AACE-933DA7F57F61}" type="pres">
      <dgm:prSet presAssocID="{794D461E-E9A3-45DF-905D-E8D4B2C254BE}" presName="nodeFollowingNodes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BF9A76-B0D2-47EF-8204-7C0D0AECFDA5}" type="pres">
      <dgm:prSet presAssocID="{66BAC29D-6C2A-4721-BE49-EB225D8C766D}" presName="nodeFollowingNodes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3465D4-4742-40C3-BB1C-CDD887E84E89}" type="pres">
      <dgm:prSet presAssocID="{F033F21A-88F0-418A-9B78-44E8B3535A70}" presName="nodeFollowingNodes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457755-8B2D-4828-8C09-086FC873A531}" type="pres">
      <dgm:prSet presAssocID="{8908DCE5-D33E-471F-AFA3-5DB8D23DE374}" presName="nodeFollowingNodes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2D848B-CD9B-43E1-9A64-51C8FBBABCED}" type="pres">
      <dgm:prSet presAssocID="{2F2D762E-B009-4CE3-AFEC-60CAB965E344}" presName="nodeFollowingNodes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F0F9B1-3610-4445-87B3-5D84BB588405}" type="pres">
      <dgm:prSet presAssocID="{49F91B13-F52E-480B-AA3A-F7B045F120D6}" presName="nodeFollowingNodes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30D985-1130-419B-A72D-293C2AFB7F01}" srcId="{B1B9B032-6B5D-49D5-8060-A00BABDED93E}" destId="{2F2D762E-B009-4CE3-AFEC-60CAB965E344}" srcOrd="5" destOrd="0" parTransId="{5985F902-9272-4750-91FC-71014E29BD8D}" sibTransId="{74EC87C2-839F-482D-9ED4-270A53C0A228}"/>
    <dgm:cxn modelId="{AEB50EDB-0994-4639-9753-D9046FD9D7E8}" srcId="{B1B9B032-6B5D-49D5-8060-A00BABDED93E}" destId="{49F91B13-F52E-480B-AA3A-F7B045F120D6}" srcOrd="6" destOrd="0" parTransId="{EEF73D18-FA0C-4AC6-9B7D-A398A59F577B}" sibTransId="{9ED50640-14D0-406B-8263-39528DAC567E}"/>
    <dgm:cxn modelId="{6DECA917-8020-4DEA-BF61-0DDCFA246F2E}" type="presOf" srcId="{2C2DA7E8-F766-460D-B028-F79E840E4495}" destId="{0679BF2A-2E88-49F0-8FB6-9D27AC8BB37D}" srcOrd="0" destOrd="0" presId="urn:microsoft.com/office/officeart/2005/8/layout/cycle3"/>
    <dgm:cxn modelId="{7B9498F5-72BA-4976-8F6C-05885B179E71}" type="presOf" srcId="{66BAC29D-6C2A-4721-BE49-EB225D8C766D}" destId="{A0BF9A76-B0D2-47EF-8204-7C0D0AECFDA5}" srcOrd="0" destOrd="0" presId="urn:microsoft.com/office/officeart/2005/8/layout/cycle3"/>
    <dgm:cxn modelId="{F2FC6109-C1D9-4B11-81F0-B984000B2BF1}" srcId="{B1B9B032-6B5D-49D5-8060-A00BABDED93E}" destId="{8908DCE5-D33E-471F-AFA3-5DB8D23DE374}" srcOrd="4" destOrd="0" parTransId="{18D892D4-C6F0-471A-882B-7F7B58D6DD31}" sibTransId="{76393AE4-4B06-4A05-AC50-F3846F968223}"/>
    <dgm:cxn modelId="{53FD4670-7779-40D8-B6D5-4E36CCF5A2CC}" type="presOf" srcId="{B1B9B032-6B5D-49D5-8060-A00BABDED93E}" destId="{C86340A2-19D8-4EC7-B81E-F68445072DBE}" srcOrd="0" destOrd="0" presId="urn:microsoft.com/office/officeart/2005/8/layout/cycle3"/>
    <dgm:cxn modelId="{D089A03F-6A4A-4967-9462-937E20DF90D4}" type="presOf" srcId="{49F91B13-F52E-480B-AA3A-F7B045F120D6}" destId="{AAF0F9B1-3610-4445-87B3-5D84BB588405}" srcOrd="0" destOrd="0" presId="urn:microsoft.com/office/officeart/2005/8/layout/cycle3"/>
    <dgm:cxn modelId="{024204FB-8C65-4241-96E1-EBFC232B35F8}" srcId="{B1B9B032-6B5D-49D5-8060-A00BABDED93E}" destId="{F033F21A-88F0-418A-9B78-44E8B3535A70}" srcOrd="3" destOrd="0" parTransId="{FFA38D20-0537-4D64-BB07-EE28530B386B}" sibTransId="{D7EE79F0-6C68-4E5B-A27A-27AEA2F4ED78}"/>
    <dgm:cxn modelId="{985C5850-9D3E-4802-8871-91EEEC86A0C7}" type="presOf" srcId="{5865B1EB-65A1-490D-B3C4-6CAE6EBB75F1}" destId="{80536467-1B8C-4BA2-8DB4-D615B76AD511}" srcOrd="0" destOrd="0" presId="urn:microsoft.com/office/officeart/2005/8/layout/cycle3"/>
    <dgm:cxn modelId="{DB79794A-FEDC-43D2-8FDA-336C0C299177}" type="presOf" srcId="{8908DCE5-D33E-471F-AFA3-5DB8D23DE374}" destId="{46457755-8B2D-4828-8C09-086FC873A531}" srcOrd="0" destOrd="0" presId="urn:microsoft.com/office/officeart/2005/8/layout/cycle3"/>
    <dgm:cxn modelId="{CDDE9ECB-91CC-4153-9581-438365128014}" type="presOf" srcId="{794D461E-E9A3-45DF-905D-E8D4B2C254BE}" destId="{1C81A425-BBB1-4594-AACE-933DA7F57F61}" srcOrd="0" destOrd="0" presId="urn:microsoft.com/office/officeart/2005/8/layout/cycle3"/>
    <dgm:cxn modelId="{C1A7455F-9814-4536-9D14-A78CD238A08B}" type="presOf" srcId="{F033F21A-88F0-418A-9B78-44E8B3535A70}" destId="{FA3465D4-4742-40C3-BB1C-CDD887E84E89}" srcOrd="0" destOrd="0" presId="urn:microsoft.com/office/officeart/2005/8/layout/cycle3"/>
    <dgm:cxn modelId="{D885467D-5880-4902-B46A-B028858B90E7}" type="presOf" srcId="{2F2D762E-B009-4CE3-AFEC-60CAB965E344}" destId="{092D848B-CD9B-43E1-9A64-51C8FBBABCED}" srcOrd="0" destOrd="0" presId="urn:microsoft.com/office/officeart/2005/8/layout/cycle3"/>
    <dgm:cxn modelId="{0389B653-D1EC-46D2-AA78-440C6F7C36EB}" srcId="{B1B9B032-6B5D-49D5-8060-A00BABDED93E}" destId="{794D461E-E9A3-45DF-905D-E8D4B2C254BE}" srcOrd="1" destOrd="0" parTransId="{321C3BAC-A562-44CC-894D-89AF93050BDA}" sibTransId="{3B476BFE-683C-49AC-9BA0-7A26B8953826}"/>
    <dgm:cxn modelId="{B3AF9CD0-CFBB-4EC7-8EF6-9EDFD9A44AE4}" srcId="{B1B9B032-6B5D-49D5-8060-A00BABDED93E}" destId="{2C2DA7E8-F766-460D-B028-F79E840E4495}" srcOrd="0" destOrd="0" parTransId="{8D66C9FF-0C7C-4689-A538-0880BF6893A9}" sibTransId="{5865B1EB-65A1-490D-B3C4-6CAE6EBB75F1}"/>
    <dgm:cxn modelId="{EB898444-22E6-4CEF-8684-6134BB02FEE5}" srcId="{B1B9B032-6B5D-49D5-8060-A00BABDED93E}" destId="{66BAC29D-6C2A-4721-BE49-EB225D8C766D}" srcOrd="2" destOrd="0" parTransId="{1DAC171A-DE52-4439-BA79-A8B01F4F5E03}" sibTransId="{A3A1075A-8102-4736-B450-93EFC33E2B34}"/>
    <dgm:cxn modelId="{BA0854CE-35F5-41FE-88DF-D5D4041578A6}" type="presParOf" srcId="{C86340A2-19D8-4EC7-B81E-F68445072DBE}" destId="{218C1DE3-5E40-4861-86B8-66BC54FAE1A5}" srcOrd="0" destOrd="0" presId="urn:microsoft.com/office/officeart/2005/8/layout/cycle3"/>
    <dgm:cxn modelId="{9CD2A84C-F5A7-4D21-A7B8-575921DF1435}" type="presParOf" srcId="{218C1DE3-5E40-4861-86B8-66BC54FAE1A5}" destId="{0679BF2A-2E88-49F0-8FB6-9D27AC8BB37D}" srcOrd="0" destOrd="0" presId="urn:microsoft.com/office/officeart/2005/8/layout/cycle3"/>
    <dgm:cxn modelId="{9E472459-681A-4752-BC01-F774E14AB1BB}" type="presParOf" srcId="{218C1DE3-5E40-4861-86B8-66BC54FAE1A5}" destId="{80536467-1B8C-4BA2-8DB4-D615B76AD511}" srcOrd="1" destOrd="0" presId="urn:microsoft.com/office/officeart/2005/8/layout/cycle3"/>
    <dgm:cxn modelId="{B02067C0-4C90-4974-8B0F-A6EE85F8D4E3}" type="presParOf" srcId="{218C1DE3-5E40-4861-86B8-66BC54FAE1A5}" destId="{1C81A425-BBB1-4594-AACE-933DA7F57F61}" srcOrd="2" destOrd="0" presId="urn:microsoft.com/office/officeart/2005/8/layout/cycle3"/>
    <dgm:cxn modelId="{C3C951E0-28CE-4B0A-AFAB-84C837F9E485}" type="presParOf" srcId="{218C1DE3-5E40-4861-86B8-66BC54FAE1A5}" destId="{A0BF9A76-B0D2-47EF-8204-7C0D0AECFDA5}" srcOrd="3" destOrd="0" presId="urn:microsoft.com/office/officeart/2005/8/layout/cycle3"/>
    <dgm:cxn modelId="{97AE0B0E-7E8A-496D-A96E-63634D7F17AA}" type="presParOf" srcId="{218C1DE3-5E40-4861-86B8-66BC54FAE1A5}" destId="{FA3465D4-4742-40C3-BB1C-CDD887E84E89}" srcOrd="4" destOrd="0" presId="urn:microsoft.com/office/officeart/2005/8/layout/cycle3"/>
    <dgm:cxn modelId="{1068F8B8-ED52-446E-9950-55076B861C58}" type="presParOf" srcId="{218C1DE3-5E40-4861-86B8-66BC54FAE1A5}" destId="{46457755-8B2D-4828-8C09-086FC873A531}" srcOrd="5" destOrd="0" presId="urn:microsoft.com/office/officeart/2005/8/layout/cycle3"/>
    <dgm:cxn modelId="{E46D0A07-B196-4C01-87EF-836004796397}" type="presParOf" srcId="{218C1DE3-5E40-4861-86B8-66BC54FAE1A5}" destId="{092D848B-CD9B-43E1-9A64-51C8FBBABCED}" srcOrd="6" destOrd="0" presId="urn:microsoft.com/office/officeart/2005/8/layout/cycle3"/>
    <dgm:cxn modelId="{E7083DE5-9AB9-4D31-A6C1-FD36E07835A8}" type="presParOf" srcId="{218C1DE3-5E40-4861-86B8-66BC54FAE1A5}" destId="{AAF0F9B1-3610-4445-87B3-5D84BB588405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dirty="0" smtClean="0"/>
            <a:t>В заголовке (Header) передаются служебные данные — метод, ресурс, данные авторизации и др., а в теле (Body) — сами сведения, которые нужно передать на сервер (например, данные о заказе или профиле пользователя)</a:t>
          </a:r>
          <a:endParaRPr lang="ru-RU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EA1BC4-8066-4507-9344-5737CAA490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7F7190-9670-44B2-BC31-7430739E7C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gm:spPr>
      <dgm:t>
        <a:bodyPr/>
        <a:lstStyle/>
        <a:p>
          <a:pPr rtl="0"/>
          <a:r>
            <a:rPr lang="ru-RU" dirty="0" smtClean="0"/>
            <a:t>В заголовке (Header) ответа сервера передаются метаданные (статус ответа, тип данных, дата, настройки кэширования и др.), а в теле (Body) —данные, которые запросил клиент (например, веб‑страница </a:t>
          </a:r>
          <a:r>
            <a:rPr lang="en-US" dirty="0" smtClean="0"/>
            <a:t>HTML</a:t>
          </a:r>
          <a:r>
            <a:rPr lang="ru-RU" dirty="0" smtClean="0"/>
            <a:t>, список товаров</a:t>
          </a:r>
          <a:r>
            <a:rPr lang="en-US" dirty="0" smtClean="0"/>
            <a:t> JSON </a:t>
          </a:r>
          <a:r>
            <a:rPr lang="ru-RU" dirty="0" smtClean="0"/>
            <a:t>или сообщение об ошибке</a:t>
          </a:r>
          <a:r>
            <a:rPr lang="en-US" dirty="0" smtClean="0"/>
            <a:t> JSON</a:t>
          </a:r>
          <a:r>
            <a:rPr lang="ru-RU" dirty="0" smtClean="0"/>
            <a:t>)</a:t>
          </a:r>
          <a:endParaRPr lang="ru-RU" dirty="0"/>
        </a:p>
      </dgm:t>
    </dgm:pt>
    <dgm:pt modelId="{F0D4B191-2BF1-41E4-B056-6CC0679D7CA5}" type="parTrans" cxnId="{2D9A1442-E792-4D8B-BF48-7F926A14D4B5}">
      <dgm:prSet/>
      <dgm:spPr/>
      <dgm:t>
        <a:bodyPr/>
        <a:lstStyle/>
        <a:p>
          <a:endParaRPr lang="ru-RU"/>
        </a:p>
      </dgm:t>
    </dgm:pt>
    <dgm:pt modelId="{F7367F3A-518B-4196-9E3A-1E31634486FC}" type="sibTrans" cxnId="{2D9A1442-E792-4D8B-BF48-7F926A14D4B5}">
      <dgm:prSet/>
      <dgm:spPr/>
      <dgm:t>
        <a:bodyPr/>
        <a:lstStyle/>
        <a:p>
          <a:endParaRPr lang="ru-RU"/>
        </a:p>
      </dgm:t>
    </dgm:pt>
    <dgm:pt modelId="{1ECE11AB-C522-4B5C-90EA-0F123A2D6FB1}" type="pres">
      <dgm:prSet presAssocID="{3AEA1BC4-8066-4507-9344-5737CAA490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24CA11-58FB-4F5E-AAEC-E60B14F7A630}" type="pres">
      <dgm:prSet presAssocID="{877F7190-9670-44B2-BC31-7430739E7C6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9A1442-E792-4D8B-BF48-7F926A14D4B5}" srcId="{3AEA1BC4-8066-4507-9344-5737CAA49052}" destId="{877F7190-9670-44B2-BC31-7430739E7C63}" srcOrd="0" destOrd="0" parTransId="{F0D4B191-2BF1-41E4-B056-6CC0679D7CA5}" sibTransId="{F7367F3A-518B-4196-9E3A-1E31634486FC}"/>
    <dgm:cxn modelId="{FF61A9E0-DD63-499D-AA78-086823E9E367}" type="presOf" srcId="{877F7190-9670-44B2-BC31-7430739E7C63}" destId="{7424CA11-58FB-4F5E-AAEC-E60B14F7A630}" srcOrd="0" destOrd="0" presId="urn:microsoft.com/office/officeart/2005/8/layout/vList2"/>
    <dgm:cxn modelId="{9F7D039F-F88A-4A3F-82E8-B52753F609B8}" type="presOf" srcId="{3AEA1BC4-8066-4507-9344-5737CAA49052}" destId="{1ECE11AB-C522-4B5C-90EA-0F123A2D6FB1}" srcOrd="0" destOrd="0" presId="urn:microsoft.com/office/officeart/2005/8/layout/vList2"/>
    <dgm:cxn modelId="{219A7A98-FB0A-4332-A9C6-BBB025A1D6B9}" type="presParOf" srcId="{1ECE11AB-C522-4B5C-90EA-0F123A2D6FB1}" destId="{7424CA11-58FB-4F5E-AAEC-E60B14F7A6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866"/>
          <a:ext cx="5202164" cy="177375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Веб-фреймворк на Python, который позволяет быстро создавать BackEnd-приложения и REST API</a:t>
          </a:r>
        </a:p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Создан Себастьяном Рамиресом в 2018 году</a:t>
          </a:r>
          <a:endParaRPr lang="ru-RU" sz="2000" kern="1200" dirty="0"/>
        </a:p>
      </dsp:txBody>
      <dsp:txXfrm>
        <a:off x="86587" y="87453"/>
        <a:ext cx="5028990" cy="16005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382537"/>
          <a:ext cx="6659879" cy="280800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HTTP (HyperText Transfer Protocol)</a:t>
          </a:r>
          <a:r>
            <a:rPr lang="ru-RU" sz="2400" kern="1200" dirty="0" smtClean="0"/>
            <a:t> — протокол передачи данных между клиентом и сервером в сети, который позволяет обмениваться веб-страницами в формате </a:t>
          </a:r>
          <a:r>
            <a:rPr lang="ru-RU" sz="2400" b="1" kern="1200" dirty="0" smtClean="0"/>
            <a:t>HTML</a:t>
          </a:r>
          <a:r>
            <a:rPr lang="ru-RU" sz="2400" kern="1200" dirty="0" smtClean="0"/>
            <a:t>, файлами и изображениями как бинарными данными, а также структурированными данными в форматах </a:t>
          </a:r>
          <a:r>
            <a:rPr lang="ru-RU" sz="2400" b="1" kern="1200" dirty="0" smtClean="0"/>
            <a:t>JSON</a:t>
          </a:r>
          <a:r>
            <a:rPr lang="ru-RU" sz="2400" kern="1200" dirty="0" smtClean="0"/>
            <a:t> и </a:t>
          </a:r>
          <a:r>
            <a:rPr lang="ru-RU" sz="2400" b="1" kern="1200" dirty="0" smtClean="0"/>
            <a:t>XML</a:t>
          </a:r>
          <a:endParaRPr lang="ru-RU" sz="2400" b="1" kern="1200" dirty="0"/>
        </a:p>
      </dsp:txBody>
      <dsp:txXfrm>
        <a:off x="137075" y="519612"/>
        <a:ext cx="6385729" cy="2533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8319"/>
          <a:ext cx="6525648" cy="216450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 dirty="0" smtClean="0"/>
            <a:t>Классический веб </a:t>
          </a:r>
          <a:r>
            <a:rPr lang="ru-RU" sz="2500" kern="1200" dirty="0" smtClean="0"/>
            <a:t>— это способ обмена данными, когда сервер формирует и отдает готовые HTML-страницы для отображения в браузере, а не структурированные данные для обработки приложением</a:t>
          </a:r>
          <a:endParaRPr lang="ru-RU" sz="2500" kern="1200" dirty="0"/>
        </a:p>
      </dsp:txBody>
      <dsp:txXfrm>
        <a:off x="105662" y="113981"/>
        <a:ext cx="6314324" cy="19531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31302"/>
          <a:ext cx="5238207" cy="171288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Способ обмена структурированными данными между клиентом и сервером через HTTP-запросы в формате JSON или XML</a:t>
          </a:r>
          <a:endParaRPr lang="ru-RU" sz="2400" kern="1200" dirty="0"/>
        </a:p>
      </dsp:txBody>
      <dsp:txXfrm>
        <a:off x="83616" y="114918"/>
        <a:ext cx="5070975" cy="1545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186778"/>
          <a:ext cx="5434751" cy="149877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FastAPI в качестве Backend‑решения служит для создания высокопроизводительного серверного приложения, выполняющего роль API‑сервера</a:t>
          </a:r>
          <a:endParaRPr lang="ru-RU" sz="2100" kern="1200" dirty="0"/>
        </a:p>
      </dsp:txBody>
      <dsp:txXfrm>
        <a:off x="73164" y="259942"/>
        <a:ext cx="5288423" cy="13524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36467-1B8C-4BA2-8DB4-D615B76AD511}">
      <dsp:nvSpPr>
        <dsp:cNvPr id="0" name=""/>
        <dsp:cNvSpPr/>
      </dsp:nvSpPr>
      <dsp:spPr>
        <a:xfrm>
          <a:off x="500909" y="-33165"/>
          <a:ext cx="4765237" cy="4765237"/>
        </a:xfrm>
        <a:prstGeom prst="circularArrow">
          <a:avLst>
            <a:gd name="adj1" fmla="val 5544"/>
            <a:gd name="adj2" fmla="val 330680"/>
            <a:gd name="adj3" fmla="val 14534057"/>
            <a:gd name="adj4" fmla="val 16939784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9BF2A-2E88-49F0-8FB6-9D27AC8BB37D}">
      <dsp:nvSpPr>
        <dsp:cNvPr id="0" name=""/>
        <dsp:cNvSpPr/>
      </dsp:nvSpPr>
      <dsp:spPr>
        <a:xfrm>
          <a:off x="2151382" y="886"/>
          <a:ext cx="1464291" cy="7321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Запрос </a:t>
          </a:r>
          <a:r>
            <a:rPr lang="en-US" sz="1800" kern="1200" dirty="0" smtClean="0"/>
            <a:t>HTTP </a:t>
          </a:r>
          <a:r>
            <a:rPr lang="ru-RU" sz="1800" kern="1200" dirty="0" smtClean="0"/>
            <a:t>от клиента</a:t>
          </a:r>
          <a:endParaRPr lang="ru-RU" sz="1800" kern="1200" dirty="0"/>
        </a:p>
      </dsp:txBody>
      <dsp:txXfrm>
        <a:off x="2187122" y="36626"/>
        <a:ext cx="1392811" cy="660665"/>
      </dsp:txXfrm>
    </dsp:sp>
    <dsp:sp modelId="{1C81A425-BBB1-4594-AACE-933DA7F57F61}">
      <dsp:nvSpPr>
        <dsp:cNvPr id="0" name=""/>
        <dsp:cNvSpPr/>
      </dsp:nvSpPr>
      <dsp:spPr>
        <a:xfrm>
          <a:off x="3740129" y="765986"/>
          <a:ext cx="1464291" cy="732145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Uvicorn</a:t>
          </a:r>
          <a:endParaRPr lang="ru-RU" sz="1800" kern="1200" dirty="0"/>
        </a:p>
      </dsp:txBody>
      <dsp:txXfrm>
        <a:off x="3775869" y="801726"/>
        <a:ext cx="1392811" cy="660665"/>
      </dsp:txXfrm>
    </dsp:sp>
    <dsp:sp modelId="{A0BF9A76-B0D2-47EF-8204-7C0D0AECFDA5}">
      <dsp:nvSpPr>
        <dsp:cNvPr id="0" name=""/>
        <dsp:cNvSpPr/>
      </dsp:nvSpPr>
      <dsp:spPr>
        <a:xfrm>
          <a:off x="4132517" y="2485151"/>
          <a:ext cx="1464291" cy="7321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Starlette</a:t>
          </a:r>
          <a:endParaRPr lang="ru-RU" sz="1800" kern="1200" dirty="0">
            <a:solidFill>
              <a:schemeClr val="tx1"/>
            </a:solidFill>
          </a:endParaRPr>
        </a:p>
      </dsp:txBody>
      <dsp:txXfrm>
        <a:off x="4168257" y="2520891"/>
        <a:ext cx="1392811" cy="660665"/>
      </dsp:txXfrm>
    </dsp:sp>
    <dsp:sp modelId="{FA3465D4-4742-40C3-BB1C-CDD887E84E89}">
      <dsp:nvSpPr>
        <dsp:cNvPr id="0" name=""/>
        <dsp:cNvSpPr/>
      </dsp:nvSpPr>
      <dsp:spPr>
        <a:xfrm>
          <a:off x="3033070" y="3863815"/>
          <a:ext cx="1464291" cy="732145"/>
        </a:xfrm>
        <a:prstGeom prst="roundRect">
          <a:avLst/>
        </a:prstGeom>
        <a:solidFill>
          <a:srgbClr val="38988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FastAPI</a:t>
          </a:r>
          <a:endParaRPr lang="ru-RU" sz="1800" kern="1200" dirty="0"/>
        </a:p>
      </dsp:txBody>
      <dsp:txXfrm>
        <a:off x="3068810" y="3899555"/>
        <a:ext cx="1392811" cy="660665"/>
      </dsp:txXfrm>
    </dsp:sp>
    <dsp:sp modelId="{46457755-8B2D-4828-8C09-086FC873A531}">
      <dsp:nvSpPr>
        <dsp:cNvPr id="0" name=""/>
        <dsp:cNvSpPr/>
      </dsp:nvSpPr>
      <dsp:spPr>
        <a:xfrm>
          <a:off x="1269693" y="3863815"/>
          <a:ext cx="1464291" cy="73214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Starlette</a:t>
          </a:r>
          <a:endParaRPr lang="ru-RU" sz="1800" kern="1200" dirty="0">
            <a:solidFill>
              <a:schemeClr val="tx1"/>
            </a:solidFill>
          </a:endParaRPr>
        </a:p>
      </dsp:txBody>
      <dsp:txXfrm>
        <a:off x="1305433" y="3899555"/>
        <a:ext cx="1392811" cy="660665"/>
      </dsp:txXfrm>
    </dsp:sp>
    <dsp:sp modelId="{092D848B-CD9B-43E1-9A64-51C8FBBABCED}">
      <dsp:nvSpPr>
        <dsp:cNvPr id="0" name=""/>
        <dsp:cNvSpPr/>
      </dsp:nvSpPr>
      <dsp:spPr>
        <a:xfrm>
          <a:off x="170246" y="2485151"/>
          <a:ext cx="1464291" cy="732145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Uvicorn</a:t>
          </a:r>
          <a:endParaRPr lang="ru-RU" sz="1800" kern="1200" dirty="0"/>
        </a:p>
      </dsp:txBody>
      <dsp:txXfrm>
        <a:off x="205986" y="2520891"/>
        <a:ext cx="1392811" cy="660665"/>
      </dsp:txXfrm>
    </dsp:sp>
    <dsp:sp modelId="{AAF0F9B1-3610-4445-87B3-5D84BB588405}">
      <dsp:nvSpPr>
        <dsp:cNvPr id="0" name=""/>
        <dsp:cNvSpPr/>
      </dsp:nvSpPr>
      <dsp:spPr>
        <a:xfrm>
          <a:off x="562634" y="765986"/>
          <a:ext cx="1464291" cy="73214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Ответ клиенту</a:t>
          </a:r>
          <a:endParaRPr lang="ru-RU" sz="1800" kern="1200" dirty="0"/>
        </a:p>
      </dsp:txBody>
      <dsp:txXfrm>
        <a:off x="598374" y="801726"/>
        <a:ext cx="1392811" cy="6606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189304"/>
          <a:ext cx="6909321" cy="2164500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В заголовке (Header) передаются служебные данные — метод, ресурс, данные авторизации и др., а в теле (Body) — сами сведения, которые нужно передать на сервер (например, данные о заказе или профиле пользователя)</a:t>
          </a:r>
          <a:endParaRPr lang="ru-RU" sz="2500" kern="1200" dirty="0"/>
        </a:p>
      </dsp:txBody>
      <dsp:txXfrm>
        <a:off x="105662" y="294966"/>
        <a:ext cx="6697997" cy="19531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CA11-58FB-4F5E-AAEC-E60B14F7A630}">
      <dsp:nvSpPr>
        <dsp:cNvPr id="0" name=""/>
        <dsp:cNvSpPr/>
      </dsp:nvSpPr>
      <dsp:spPr>
        <a:xfrm>
          <a:off x="0" y="36034"/>
          <a:ext cx="6909321" cy="247103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76200" dir="13500000" sy="23000" kx="1200000" algn="br" rotWithShape="0">
            <a:prstClr val="black">
              <a:alpha val="20000"/>
            </a:prstClr>
          </a:outerShdw>
        </a:effectLst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В заголовке (Header) ответа сервера передаются метаданные (статус ответа, тип данных, дата, настройки кэширования и др.), а в теле (Body) —данные, которые запросил клиент (например, веб‑страница </a:t>
          </a:r>
          <a:r>
            <a:rPr lang="en-US" sz="2400" kern="1200" dirty="0" smtClean="0"/>
            <a:t>HTML</a:t>
          </a:r>
          <a:r>
            <a:rPr lang="ru-RU" sz="2400" kern="1200" dirty="0" smtClean="0"/>
            <a:t>, список товаров</a:t>
          </a:r>
          <a:r>
            <a:rPr lang="en-US" sz="2400" kern="1200" dirty="0" smtClean="0"/>
            <a:t> JSON </a:t>
          </a:r>
          <a:r>
            <a:rPr lang="ru-RU" sz="2400" kern="1200" dirty="0" smtClean="0"/>
            <a:t>или сообщение об ошибке</a:t>
          </a:r>
          <a:r>
            <a:rPr lang="en-US" sz="2400" kern="1200" dirty="0" smtClean="0"/>
            <a:t> JSON</a:t>
          </a:r>
          <a:r>
            <a:rPr lang="ru-RU" sz="2400" kern="1200" dirty="0" smtClean="0"/>
            <a:t>)</a:t>
          </a:r>
          <a:endParaRPr lang="ru-RU" sz="2400" kern="1200" dirty="0"/>
        </a:p>
      </dsp:txBody>
      <dsp:txXfrm>
        <a:off x="120626" y="156660"/>
        <a:ext cx="6668069" cy="2229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A4EF0-F457-4CA7-942F-3A7F815A94D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13D81-AD48-4F0E-973A-FC6741AAFC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960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0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77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86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44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48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9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29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88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7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07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FDF2-4B35-41D3-A904-5364F67D0725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AA2A-D3E7-42A2-ADE3-DC21C8C6EC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37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0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8.png"/><Relationship Id="rId10" Type="http://schemas.microsoft.com/office/2007/relationships/diagramDrawing" Target="../diagrams/drawing2.xml"/><Relationship Id="rId4" Type="http://schemas.openxmlformats.org/officeDocument/2006/relationships/image" Target="../media/image11.jpeg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3.xml"/><Relationship Id="rId5" Type="http://schemas.openxmlformats.org/officeDocument/2006/relationships/image" Target="../media/image13.png"/><Relationship Id="rId10" Type="http://schemas.microsoft.com/office/2007/relationships/diagramDrawing" Target="../diagrams/drawing3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microsoft.com/office/2007/relationships/diagramDrawing" Target="../diagrams/drawing4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microsoft.com/office/2007/relationships/diagramDrawing" Target="../diagrams/drawing5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openxmlformats.org/officeDocument/2006/relationships/image" Target="../media/image13.png"/><Relationship Id="rId10" Type="http://schemas.microsoft.com/office/2007/relationships/diagramDrawing" Target="../diagrams/drawing7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5" Type="http://schemas.openxmlformats.org/officeDocument/2006/relationships/image" Target="../media/image13.png"/><Relationship Id="rId10" Type="http://schemas.microsoft.com/office/2007/relationships/diagramDrawing" Target="../diagrams/drawing8.xml"/><Relationship Id="rId4" Type="http://schemas.openxmlformats.org/officeDocument/2006/relationships/image" Target="../media/image12.png"/><Relationship Id="rId9" Type="http://schemas.openxmlformats.org/officeDocument/2006/relationships/diagramColors" Target="../diagrams/colors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5687" y="0"/>
              <a:ext cx="7538312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17049" cy="5143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3999" cy="5143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5569900" cy="514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193951" cy="51434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1313" y="1963947"/>
            <a:ext cx="410241" cy="2928620"/>
          </a:xfrm>
          <a:prstGeom prst="rect">
            <a:avLst/>
          </a:prstGeom>
        </p:spPr>
        <p:txBody>
          <a:bodyPr vert="vert270" wrap="square" lIns="0" tIns="49107" rIns="0" bIns="0" rtlCol="0">
            <a:spAutoFit/>
          </a:bodyPr>
          <a:lstStyle/>
          <a:p>
            <a:pPr marL="16933">
              <a:spcBef>
                <a:spcPts val="387"/>
              </a:spcBef>
            </a:pP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УНИВЕРСИТЕТ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67" dirty="0">
                <a:solidFill>
                  <a:srgbClr val="FFFFFF"/>
                </a:solidFill>
                <a:latin typeface="Yu Gothic UI Light"/>
                <a:cs typeface="Yu Gothic UI Light"/>
              </a:rPr>
              <a:t>ИСКУССТВЕННОГО</a:t>
            </a:r>
            <a:r>
              <a:rPr sz="1333" spc="-87" dirty="0">
                <a:solidFill>
                  <a:srgbClr val="FFFFFF"/>
                </a:solidFill>
                <a:latin typeface="Yu Gothic UI Light"/>
                <a:cs typeface="Yu Gothic UI Light"/>
              </a:rPr>
              <a:t> </a:t>
            </a:r>
            <a:r>
              <a:rPr sz="1333" spc="-152" dirty="0">
                <a:solidFill>
                  <a:srgbClr val="FFFFFF"/>
                </a:solidFill>
                <a:latin typeface="Yu Gothic UI Light"/>
                <a:cs typeface="Yu Gothic UI Light"/>
              </a:rPr>
              <a:t>ИНТЕЛЛЕКТА</a:t>
            </a:r>
            <a:endParaRPr sz="1333">
              <a:latin typeface="Yu Gothic UI Light"/>
              <a:cs typeface="Yu Gothic U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7311" y="-330200"/>
            <a:ext cx="7769860" cy="6858000"/>
            <a:chOff x="287949" y="0"/>
            <a:chExt cx="5827395" cy="5143500"/>
          </a:xfrm>
        </p:grpSpPr>
        <p:sp>
          <p:nvSpPr>
            <p:cNvPr id="10" name="object 10"/>
            <p:cNvSpPr/>
            <p:nvPr/>
          </p:nvSpPr>
          <p:spPr>
            <a:xfrm>
              <a:off x="297474" y="0"/>
              <a:ext cx="0" cy="5143500"/>
            </a:xfrm>
            <a:custGeom>
              <a:avLst/>
              <a:gdLst/>
              <a:ahLst/>
              <a:cxnLst/>
              <a:rect l="l" t="t" r="r" b="b"/>
              <a:pathLst>
                <a:path h="5143500">
                  <a:moveTo>
                    <a:pt x="0" y="3905699"/>
                  </a:moveTo>
                  <a:lnTo>
                    <a:pt x="0" y="5143499"/>
                  </a:lnTo>
                </a:path>
                <a:path h="5143500">
                  <a:moveTo>
                    <a:pt x="0" y="0"/>
                  </a:moveTo>
                  <a:lnTo>
                    <a:pt x="0" y="12377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399" y="0"/>
              <a:ext cx="5781750" cy="42298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64198" y="441242"/>
            <a:ext cx="7623239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10000"/>
              </a:lnSpc>
              <a:spcBef>
                <a:spcPts val="133"/>
              </a:spcBef>
            </a:pPr>
            <a:r>
              <a:rPr lang="ru-RU" sz="6000" spc="13" dirty="0">
                <a:solidFill>
                  <a:srgbClr val="FFFFFF"/>
                </a:solidFill>
                <a:latin typeface="Tahoma"/>
                <a:cs typeface="Tahoma"/>
              </a:rPr>
              <a:t>Основы </a:t>
            </a:r>
            <a:r>
              <a:rPr lang="en-US" sz="6000" spc="13" dirty="0">
                <a:solidFill>
                  <a:srgbClr val="FFFFFF"/>
                </a:solidFill>
                <a:latin typeface="Tahoma"/>
                <a:cs typeface="Tahoma"/>
              </a:rPr>
              <a:t>FastApi </a:t>
            </a:r>
            <a:r>
              <a:rPr lang="en-US" sz="6000" spc="13" dirty="0" smtClean="0">
                <a:solidFill>
                  <a:srgbClr val="FFFFFF"/>
                </a:solidFill>
                <a:latin typeface="Tahoma"/>
                <a:cs typeface="Tahoma"/>
              </a:rPr>
              <a:t/>
            </a:r>
            <a:br>
              <a:rPr lang="en-US" sz="6000" spc="13" dirty="0" smtClean="0">
                <a:solidFill>
                  <a:srgbClr val="FFFFFF"/>
                </a:solidFill>
                <a:latin typeface="Tahoma"/>
                <a:cs typeface="Tahoma"/>
              </a:rPr>
            </a:br>
            <a:r>
              <a:rPr lang="ru-RU" sz="6000" spc="13" dirty="0" smtClean="0">
                <a:solidFill>
                  <a:srgbClr val="FFFFFF"/>
                </a:solidFill>
                <a:latin typeface="Tahoma"/>
                <a:cs typeface="Tahoma"/>
              </a:rPr>
              <a:t>для </a:t>
            </a:r>
            <a:r>
              <a:rPr lang="en-US" sz="6000" spc="13" dirty="0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endParaRPr sz="6000" spc="13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0559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Общая информация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027611" y="3063255"/>
            <a:ext cx="76005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этой теме мы рассмотрим создание BackEnd-приложения на </a:t>
            </a: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FastAPI:</a:t>
            </a:r>
          </a:p>
          <a:p>
            <a:endParaRPr lang="ru-RU" sz="24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структуру </a:t>
            </a: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проекта, маршрутизацию, </a:t>
            </a:r>
            <a:r>
              <a:rPr lang="ru-RU" sz="24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валидацию</a:t>
            </a:r>
            <a:endParaRPr lang="ru-RU" sz="24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работу </a:t>
            </a:r>
            <a:r>
              <a:rPr lang="ru-RU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базой </a:t>
            </a: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ru-RU" sz="240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логирование</a:t>
            </a:r>
            <a:endParaRPr lang="ru-RU" sz="24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авторизацию, защиту </a:t>
            </a: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маршрутов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подключение </a:t>
            </a:r>
            <a:r>
              <a:rPr lang="ru-RU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LLM</a:t>
            </a:r>
            <a:endParaRPr lang="ru-RU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400390904"/>
              </p:ext>
            </p:extLst>
          </p:nvPr>
        </p:nvGraphicFramePr>
        <p:xfrm>
          <a:off x="3488990" y="990135"/>
          <a:ext cx="5202164" cy="1775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" y="1675367"/>
            <a:ext cx="2137953" cy="3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3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778425" y="2502224"/>
            <a:ext cx="38517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</a:t>
            </a:r>
          </a:p>
          <a:p>
            <a:r>
              <a:rPr lang="ru-RU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Отвечает </a:t>
            </a:r>
            <a:r>
              <a:rPr lang="ru-RU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отображение </a:t>
            </a:r>
            <a:r>
              <a:rPr lang="ru-RU" sz="2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 и </a:t>
            </a:r>
            <a:r>
              <a:rPr lang="ru-RU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взаимодействие с </a:t>
            </a:r>
            <a:r>
              <a:rPr lang="ru-RU" sz="2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  <a:p>
            <a:endParaRPr lang="ru-RU" sz="22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</a:t>
            </a:r>
            <a:r>
              <a:rPr lang="ru-RU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браузер, мобильное приложение, </a:t>
            </a:r>
            <a:r>
              <a:rPr lang="ru-RU" sz="2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Telegram-бот</a:t>
            </a:r>
            <a:endParaRPr lang="ru-RU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57943" y="2502224"/>
            <a:ext cx="389253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  <a:p>
            <a:pPr algn="ctr"/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ru-RU" sz="2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Серверная </a:t>
            </a:r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часть: обрабатывает </a:t>
            </a:r>
            <a:r>
              <a:rPr lang="ru-RU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логику, работает с базой </a:t>
            </a:r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</a:p>
          <a:p>
            <a:endParaRPr lang="ru-RU" sz="2200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Может </a:t>
            </a:r>
            <a:r>
              <a:rPr lang="ru-RU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отдавать данные в </a:t>
            </a:r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форматах </a:t>
            </a:r>
            <a:r>
              <a:rPr lang="ru-RU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JSON, HTML</a:t>
            </a:r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XML,</a:t>
            </a:r>
            <a:r>
              <a:rPr lang="ru-RU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файлы</a:t>
            </a:r>
            <a:endParaRPr lang="ru-RU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66" y="891057"/>
            <a:ext cx="1329518" cy="18813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828" y="1081261"/>
            <a:ext cx="1420963" cy="1420963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sp>
        <p:nvSpPr>
          <p:cNvPr id="21" name="Двойная стрелка влево/вправо 20"/>
          <p:cNvSpPr/>
          <p:nvPr/>
        </p:nvSpPr>
        <p:spPr>
          <a:xfrm>
            <a:off x="4237940" y="1527031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HTTP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76012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66" y="891057"/>
            <a:ext cx="1329518" cy="18813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828" y="1081261"/>
            <a:ext cx="1420963" cy="1420963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sp>
        <p:nvSpPr>
          <p:cNvPr id="21" name="Двойная стрелка влево/вправо 20"/>
          <p:cNvSpPr/>
          <p:nvPr/>
        </p:nvSpPr>
        <p:spPr>
          <a:xfrm>
            <a:off x="4237940" y="1527031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HTTP</a:t>
            </a:r>
            <a:endParaRPr lang="ru-RU" b="1" dirty="0"/>
          </a:p>
        </p:txBody>
      </p:sp>
      <p:graphicFrame>
        <p:nvGraphicFramePr>
          <p:cNvPr id="15" name="Схема 14"/>
          <p:cNvGraphicFramePr/>
          <p:nvPr>
            <p:extLst>
              <p:ext uri="{D42A27DB-BD31-4B8C-83A1-F6EECF244321}">
                <p14:modId xmlns:p14="http://schemas.microsoft.com/office/powerpoint/2010/main" val="3677752176"/>
              </p:ext>
            </p:extLst>
          </p:nvPr>
        </p:nvGraphicFramePr>
        <p:xfrm>
          <a:off x="1769979" y="2576993"/>
          <a:ext cx="6659879" cy="3190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243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583275" y="1218887"/>
            <a:ext cx="8368312" cy="179101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301" y="1494820"/>
            <a:ext cx="907642" cy="98025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87094" y="1591312"/>
            <a:ext cx="1196797" cy="899048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1239755" y="2503419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6269131" y="2503418"/>
            <a:ext cx="2232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</a:p>
        </p:txBody>
      </p:sp>
      <p:graphicFrame>
        <p:nvGraphicFramePr>
          <p:cNvPr id="21" name="Схема 20"/>
          <p:cNvGraphicFramePr/>
          <p:nvPr>
            <p:extLst>
              <p:ext uri="{D42A27DB-BD31-4B8C-83A1-F6EECF244321}">
                <p14:modId xmlns:p14="http://schemas.microsoft.com/office/powerpoint/2010/main" val="1437566588"/>
              </p:ext>
            </p:extLst>
          </p:nvPr>
        </p:nvGraphicFramePr>
        <p:xfrm>
          <a:off x="1504607" y="3640633"/>
          <a:ext cx="6525648" cy="2306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Стрелка вправо 10"/>
          <p:cNvSpPr/>
          <p:nvPr/>
        </p:nvSpPr>
        <p:spPr>
          <a:xfrm>
            <a:off x="3989874" y="1884777"/>
            <a:ext cx="1078515" cy="459232"/>
          </a:xfrm>
          <a:prstGeom prst="rightArrow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n>
                  <a:solidFill>
                    <a:schemeClr val="bg1"/>
                  </a:solidFill>
                </a:ln>
              </a:rPr>
              <a:t>HTML</a:t>
            </a:r>
            <a:endParaRPr lang="ru-RU" sz="2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031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583275" y="1218887"/>
            <a:ext cx="8368312" cy="179101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301" y="1494820"/>
            <a:ext cx="907642" cy="98025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01" y="1494820"/>
            <a:ext cx="907642" cy="980253"/>
          </a:xfrm>
          <a:prstGeom prst="rect">
            <a:avLst/>
          </a:prstGeom>
        </p:spPr>
      </p:pic>
      <p:sp>
        <p:nvSpPr>
          <p:cNvPr id="13" name="Двойная стрелка влево/вправо 12"/>
          <p:cNvSpPr/>
          <p:nvPr/>
        </p:nvSpPr>
        <p:spPr>
          <a:xfrm>
            <a:off x="3021102" y="1779579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JSON</a:t>
            </a:r>
            <a:endParaRPr lang="ru-RU" b="1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87094" y="1591312"/>
            <a:ext cx="1196797" cy="899048"/>
          </a:xfrm>
          <a:prstGeom prst="rect">
            <a:avLst/>
          </a:prstGeom>
        </p:spPr>
      </p:pic>
      <p:sp>
        <p:nvSpPr>
          <p:cNvPr id="23" name="Двойная стрелка влево/вправо 22"/>
          <p:cNvSpPr/>
          <p:nvPr/>
        </p:nvSpPr>
        <p:spPr>
          <a:xfrm>
            <a:off x="5442523" y="1779579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HTML</a:t>
            </a:r>
            <a:endParaRPr lang="ru-RU" b="1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239755" y="2503419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3754443" y="2503418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ru-RU" sz="22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6269131" y="2503418"/>
            <a:ext cx="2232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</a:p>
        </p:txBody>
      </p:sp>
      <p:graphicFrame>
        <p:nvGraphicFramePr>
          <p:cNvPr id="27" name="Схема 26"/>
          <p:cNvGraphicFramePr/>
          <p:nvPr>
            <p:extLst>
              <p:ext uri="{D42A27DB-BD31-4B8C-83A1-F6EECF244321}">
                <p14:modId xmlns:p14="http://schemas.microsoft.com/office/powerpoint/2010/main" val="1375605460"/>
              </p:ext>
            </p:extLst>
          </p:nvPr>
        </p:nvGraphicFramePr>
        <p:xfrm>
          <a:off x="3516835" y="3683467"/>
          <a:ext cx="5238207" cy="1775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3806" y="3808356"/>
            <a:ext cx="1517296" cy="1224447"/>
          </a:xfrm>
          <a:prstGeom prst="rect">
            <a:avLst/>
          </a:prstGeom>
        </p:spPr>
      </p:pic>
      <p:cxnSp>
        <p:nvCxnSpPr>
          <p:cNvPr id="29" name="Прямая со стрелкой 28"/>
          <p:cNvCxnSpPr/>
          <p:nvPr/>
        </p:nvCxnSpPr>
        <p:spPr>
          <a:xfrm flipV="1">
            <a:off x="2746119" y="2538090"/>
            <a:ext cx="770715" cy="1185227"/>
          </a:xfrm>
          <a:prstGeom prst="straightConnector1">
            <a:avLst/>
          </a:prstGeom>
          <a:ln w="38100">
            <a:solidFill>
              <a:srgbClr val="01B5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583275" y="1218887"/>
            <a:ext cx="8368312" cy="179101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301" y="1494820"/>
            <a:ext cx="907642" cy="98025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01" y="1494820"/>
            <a:ext cx="907642" cy="980253"/>
          </a:xfrm>
          <a:prstGeom prst="rect">
            <a:avLst/>
          </a:prstGeom>
        </p:spPr>
      </p:pic>
      <p:sp>
        <p:nvSpPr>
          <p:cNvPr id="13" name="Двойная стрелка влево/вправо 12"/>
          <p:cNvSpPr/>
          <p:nvPr/>
        </p:nvSpPr>
        <p:spPr>
          <a:xfrm>
            <a:off x="3021102" y="1779579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JSON</a:t>
            </a:r>
            <a:endParaRPr lang="ru-RU" b="1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87094" y="1591312"/>
            <a:ext cx="1196797" cy="899048"/>
          </a:xfrm>
          <a:prstGeom prst="rect">
            <a:avLst/>
          </a:prstGeom>
        </p:spPr>
      </p:pic>
      <p:sp>
        <p:nvSpPr>
          <p:cNvPr id="23" name="Двойная стрелка влево/вправо 22"/>
          <p:cNvSpPr/>
          <p:nvPr/>
        </p:nvSpPr>
        <p:spPr>
          <a:xfrm>
            <a:off x="5442523" y="1779579"/>
            <a:ext cx="1103439" cy="522514"/>
          </a:xfrm>
          <a:prstGeom prst="leftRightArrow">
            <a:avLst/>
          </a:prstGeom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HTML</a:t>
            </a:r>
            <a:endParaRPr lang="ru-RU" b="1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239755" y="2503419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3754443" y="2503418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ru-RU" sz="22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6269131" y="2503418"/>
            <a:ext cx="2232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</a:p>
        </p:txBody>
      </p:sp>
      <p:graphicFrame>
        <p:nvGraphicFramePr>
          <p:cNvPr id="27" name="Схема 26"/>
          <p:cNvGraphicFramePr/>
          <p:nvPr>
            <p:extLst>
              <p:ext uri="{D42A27DB-BD31-4B8C-83A1-F6EECF244321}">
                <p14:modId xmlns:p14="http://schemas.microsoft.com/office/powerpoint/2010/main" val="1036854461"/>
              </p:ext>
            </p:extLst>
          </p:nvPr>
        </p:nvGraphicFramePr>
        <p:xfrm>
          <a:off x="3516835" y="3586624"/>
          <a:ext cx="5434752" cy="1872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 flipV="1">
            <a:off x="2314175" y="3207395"/>
            <a:ext cx="0" cy="582011"/>
          </a:xfrm>
          <a:prstGeom prst="straightConnector1">
            <a:avLst/>
          </a:prstGeom>
          <a:ln w="38100">
            <a:solidFill>
              <a:srgbClr val="3898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Рисунок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77" y="3956033"/>
            <a:ext cx="2137953" cy="3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1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Фреймворки на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88274" y="1008072"/>
            <a:ext cx="806331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CherryPy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малые и средние веб-приложения (2002)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Bottle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прототипы, маленькие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API (2004)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Pyramid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средние и крупные проекты (2005)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REST API,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малые проекты, прототипы (2010)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Django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сложные сайты, корпоративные проекты (2011)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Tornado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Realtime-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приложения, чаты (2011)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Falcon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REST API,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микросервисы (2013)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Hug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быстрые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API (2013)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Sanic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	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Async API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realtime-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приложения (2016)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Starlette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API,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микросервисы (2018)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высокопроизводительные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API (2018) 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7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8234" y="972783"/>
            <a:ext cx="788125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dirty="0" smtClean="0"/>
              <a:t>• </a:t>
            </a:r>
            <a:r>
              <a:rPr lang="ru-RU" sz="2400" b="1" dirty="0" smtClean="0"/>
              <a:t>Высокая скорость</a:t>
            </a:r>
            <a:endParaRPr lang="en-US" sz="2400" dirty="0" smtClean="0"/>
          </a:p>
          <a:p>
            <a:pPr algn="just">
              <a:spcBef>
                <a:spcPts val="1200"/>
              </a:spcBef>
            </a:pPr>
            <a:r>
              <a:rPr lang="ru-RU" sz="2000" dirty="0" smtClean="0"/>
              <a:t>FastAPI работает </a:t>
            </a:r>
            <a:r>
              <a:rPr lang="ru-RU" sz="2000" dirty="0"/>
              <a:t>значительно быстрее, чем другие фреймворки (например, Flask и Django</a:t>
            </a:r>
            <a:r>
              <a:rPr lang="ru-RU" sz="2000" dirty="0" smtClean="0"/>
              <a:t>)</a:t>
            </a:r>
            <a:endParaRPr lang="ru-RU" sz="2000" dirty="0"/>
          </a:p>
          <a:p>
            <a:pPr algn="just">
              <a:spcBef>
                <a:spcPts val="1200"/>
              </a:spcBef>
            </a:pPr>
            <a:r>
              <a:rPr lang="en-US" sz="2400" dirty="0"/>
              <a:t>• </a:t>
            </a:r>
            <a:r>
              <a:rPr lang="ru-RU" sz="2400" b="1" dirty="0" smtClean="0"/>
              <a:t>Автоматическая документация</a:t>
            </a:r>
            <a:endParaRPr lang="en-US" sz="2400" dirty="0" smtClean="0"/>
          </a:p>
          <a:p>
            <a:pPr algn="just">
              <a:spcBef>
                <a:spcPts val="1200"/>
              </a:spcBef>
            </a:pPr>
            <a:r>
              <a:rPr lang="ru-RU" sz="2000" dirty="0" smtClean="0"/>
              <a:t>FastAPI </a:t>
            </a:r>
            <a:r>
              <a:rPr lang="ru-RU" sz="2000" dirty="0"/>
              <a:t>автоматически генерирует документацию для API, доступную через интерфейсы Swagger и </a:t>
            </a:r>
            <a:r>
              <a:rPr lang="ru-RU" sz="2000" dirty="0" smtClean="0"/>
              <a:t>ReDoc</a:t>
            </a:r>
            <a:endParaRPr lang="ru-RU" sz="2000" dirty="0"/>
          </a:p>
          <a:p>
            <a:pPr algn="just">
              <a:spcBef>
                <a:spcPts val="1200"/>
              </a:spcBef>
            </a:pPr>
            <a:r>
              <a:rPr lang="en-US" sz="2400" dirty="0"/>
              <a:t>• </a:t>
            </a:r>
            <a:r>
              <a:rPr lang="ru-RU" sz="2400" b="1" dirty="0" smtClean="0"/>
              <a:t>Асинхронность</a:t>
            </a:r>
            <a:endParaRPr lang="en-US" sz="2400" dirty="0"/>
          </a:p>
          <a:p>
            <a:pPr algn="just">
              <a:spcBef>
                <a:spcPts val="1200"/>
              </a:spcBef>
            </a:pPr>
            <a:r>
              <a:rPr lang="ru-RU" sz="2000" dirty="0" smtClean="0"/>
              <a:t>Асинхронность </a:t>
            </a:r>
            <a:r>
              <a:rPr lang="ru-RU" sz="2000" dirty="0"/>
              <a:t>позволяет обрабатывать большое количество запросов одновременно без </a:t>
            </a:r>
            <a:r>
              <a:rPr lang="ru-RU" sz="2000" dirty="0" smtClean="0"/>
              <a:t>блокировки</a:t>
            </a:r>
            <a:endParaRPr lang="ru-RU" sz="2400" dirty="0"/>
          </a:p>
          <a:p>
            <a:pPr algn="just">
              <a:spcBef>
                <a:spcPts val="1200"/>
              </a:spcBef>
            </a:pPr>
            <a:r>
              <a:rPr lang="en-US" sz="2400" dirty="0"/>
              <a:t>• </a:t>
            </a:r>
            <a:r>
              <a:rPr lang="ru-RU" sz="2400" b="1" dirty="0" smtClean="0"/>
              <a:t>Типизация </a:t>
            </a:r>
            <a:r>
              <a:rPr lang="ru-RU" sz="2400" b="1" dirty="0"/>
              <a:t>и </a:t>
            </a:r>
            <a:r>
              <a:rPr lang="ru-RU" sz="2400" b="1" dirty="0" smtClean="0"/>
              <a:t>валидация</a:t>
            </a:r>
            <a:endParaRPr lang="en-US" sz="2400" dirty="0"/>
          </a:p>
          <a:p>
            <a:pPr algn="just">
              <a:spcBef>
                <a:spcPts val="1200"/>
              </a:spcBef>
            </a:pPr>
            <a:r>
              <a:rPr lang="ru-RU" sz="2000" dirty="0" smtClean="0"/>
              <a:t>Pydantic </a:t>
            </a:r>
            <a:r>
              <a:rPr lang="ru-RU" sz="2000" dirty="0"/>
              <a:t>для валидации данных, </a:t>
            </a:r>
            <a:r>
              <a:rPr lang="ru-RU" sz="2000" dirty="0" smtClean="0"/>
              <a:t>аннотация </a:t>
            </a:r>
            <a:r>
              <a:rPr lang="ru-RU" sz="2000" dirty="0"/>
              <a:t>типов Python позволяет </a:t>
            </a:r>
            <a:r>
              <a:rPr lang="ru-RU" sz="2000" dirty="0" smtClean="0"/>
              <a:t>обеспечивает </a:t>
            </a:r>
            <a:r>
              <a:rPr lang="ru-RU" sz="2000" dirty="0"/>
              <a:t>более читаемый и безопасный </a:t>
            </a:r>
            <a:r>
              <a:rPr lang="ru-RU" sz="2000" dirty="0" smtClean="0"/>
              <a:t>код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8223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83275" y="205153"/>
            <a:ext cx="83683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Внутренняя архитектура </a:t>
            </a:r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API-сервера</a:t>
            </a:r>
            <a:endParaRPr lang="en-US" sz="2800" b="1" dirty="0" smtClean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основе FastAPI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graphicFrame>
        <p:nvGraphicFramePr>
          <p:cNvPr id="12" name="Схема 11"/>
          <p:cNvGraphicFramePr/>
          <p:nvPr>
            <p:extLst>
              <p:ext uri="{D42A27DB-BD31-4B8C-83A1-F6EECF244321}">
                <p14:modId xmlns:p14="http://schemas.microsoft.com/office/powerpoint/2010/main" val="3822846140"/>
              </p:ext>
            </p:extLst>
          </p:nvPr>
        </p:nvGraphicFramePr>
        <p:xfrm>
          <a:off x="756016" y="1614940"/>
          <a:ext cx="5767056" cy="459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15297" y="1265338"/>
            <a:ext cx="209366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b="1" dirty="0" smtClean="0"/>
              <a:t>Httptools</a:t>
            </a:r>
            <a:r>
              <a:rPr lang="ru-RU" dirty="0"/>
              <a:t> — </a:t>
            </a:r>
            <a:r>
              <a:rPr lang="ru-RU" sz="1400" dirty="0"/>
              <a:t>библиотека на </a:t>
            </a:r>
            <a:r>
              <a:rPr lang="ru-RU" sz="1400" dirty="0" smtClean="0"/>
              <a:t>C для </a:t>
            </a:r>
            <a:r>
              <a:rPr lang="ru-RU" sz="1400" dirty="0"/>
              <a:t>парсинга </a:t>
            </a:r>
            <a:r>
              <a:rPr lang="ru-RU" sz="1400" dirty="0" smtClean="0"/>
              <a:t>HTTP‑запросов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Acyncio</a:t>
            </a:r>
            <a:r>
              <a:rPr lang="ru-RU" b="1" dirty="0"/>
              <a:t> </a:t>
            </a:r>
            <a:r>
              <a:rPr lang="ru-RU" dirty="0"/>
              <a:t>— </a:t>
            </a:r>
            <a:r>
              <a:rPr lang="ru-RU" sz="1400" dirty="0" smtClean="0"/>
              <a:t>библиотека на </a:t>
            </a:r>
            <a:r>
              <a:rPr lang="en-US" sz="1400" dirty="0" smtClean="0"/>
              <a:t>Python </a:t>
            </a:r>
            <a:r>
              <a:rPr lang="ru-RU" sz="1400" dirty="0" smtClean="0"/>
              <a:t>для создания асинхронности</a:t>
            </a:r>
            <a:endParaRPr lang="en-US" sz="1400" b="1" dirty="0" smtClean="0"/>
          </a:p>
          <a:p>
            <a:pPr>
              <a:spcBef>
                <a:spcPts val="1200"/>
              </a:spcBef>
            </a:pPr>
            <a:r>
              <a:rPr lang="en-US" b="1" dirty="0" smtClean="0"/>
              <a:t>Libuv</a:t>
            </a:r>
            <a:r>
              <a:rPr lang="ru-RU" b="1" dirty="0" smtClean="0"/>
              <a:t> </a:t>
            </a:r>
            <a:r>
              <a:rPr lang="ru-RU" sz="1400" dirty="0" smtClean="0"/>
              <a:t>— библиотека </a:t>
            </a:r>
            <a:r>
              <a:rPr lang="ru-RU" sz="1400" dirty="0"/>
              <a:t>на C для </a:t>
            </a:r>
            <a:r>
              <a:rPr lang="ru-RU" sz="1400" dirty="0" smtClean="0"/>
              <a:t>организации цикла событий</a:t>
            </a:r>
            <a:endParaRPr lang="ru-RU" sz="1400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flipV="1">
            <a:off x="6186616" y="2249901"/>
            <a:ext cx="354933" cy="1967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90939" y="5066211"/>
            <a:ext cx="25387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500" dirty="0" smtClean="0"/>
              <a:t>Фреймворк</a:t>
            </a:r>
            <a:r>
              <a:rPr lang="en-US" sz="1500" dirty="0" smtClean="0"/>
              <a:t> </a:t>
            </a:r>
            <a:r>
              <a:rPr lang="ru-RU" sz="1500" dirty="0" smtClean="0"/>
              <a:t>(</a:t>
            </a:r>
            <a:r>
              <a:rPr lang="en-US" sz="1500" dirty="0" smtClean="0"/>
              <a:t>Python) </a:t>
            </a:r>
            <a:r>
              <a:rPr lang="ru-RU" sz="1500" dirty="0" smtClean="0"/>
              <a:t>для базовой обработки </a:t>
            </a:r>
            <a:r>
              <a:rPr lang="en-US" sz="1500" dirty="0" smtClean="0"/>
              <a:t>HTTP </a:t>
            </a:r>
            <a:r>
              <a:rPr lang="ru-RU" sz="1500" dirty="0" smtClean="0"/>
              <a:t>запросов, маршрутизации, работы с </a:t>
            </a:r>
            <a:r>
              <a:rPr lang="en-US" sz="1500" dirty="0" smtClean="0"/>
              <a:t>WebSocket</a:t>
            </a:r>
            <a:endParaRPr lang="ru-RU" sz="15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 flipV="1">
            <a:off x="6475548" y="4660576"/>
            <a:ext cx="338888" cy="3147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50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583275" y="1218887"/>
            <a:ext cx="8368312" cy="179101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Выполнение запроса к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79" y="1494820"/>
            <a:ext cx="907642" cy="98025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01" y="1494820"/>
            <a:ext cx="907642" cy="98025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6031" y="1591312"/>
            <a:ext cx="1196797" cy="899048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1083233" y="2503419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3754443" y="2503418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ru-RU" sz="22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6648068" y="2503418"/>
            <a:ext cx="2232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</a:p>
        </p:txBody>
      </p:sp>
      <p:graphicFrame>
        <p:nvGraphicFramePr>
          <p:cNvPr id="27" name="Схема 26"/>
          <p:cNvGraphicFramePr/>
          <p:nvPr>
            <p:extLst>
              <p:ext uri="{D42A27DB-BD31-4B8C-83A1-F6EECF244321}">
                <p14:modId xmlns:p14="http://schemas.microsoft.com/office/powerpoint/2010/main" val="285710024"/>
              </p:ext>
            </p:extLst>
          </p:nvPr>
        </p:nvGraphicFramePr>
        <p:xfrm>
          <a:off x="1667598" y="3356944"/>
          <a:ext cx="6909321" cy="254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1" name="Стрелка вправо 30"/>
          <p:cNvSpPr/>
          <p:nvPr/>
        </p:nvSpPr>
        <p:spPr>
          <a:xfrm flipH="1">
            <a:off x="2919594" y="1289029"/>
            <a:ext cx="1075755" cy="1632319"/>
          </a:xfrm>
          <a:prstGeom prst="rightArrow">
            <a:avLst>
              <a:gd name="adj1" fmla="val 50000"/>
              <a:gd name="adj2" fmla="val 49236"/>
            </a:avLst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 smtClean="0">
                <a:ln>
                  <a:solidFill>
                    <a:schemeClr val="bg1"/>
                  </a:solidFill>
                </a:ln>
              </a:rPr>
              <a:t>HTTP</a:t>
            </a:r>
            <a:r>
              <a:rPr lang="ru-RU" sz="2000" b="1" dirty="0">
                <a:ln>
                  <a:solidFill>
                    <a:schemeClr val="bg1"/>
                  </a:solidFill>
                </a:ln>
              </a:rPr>
              <a:t/>
            </a:r>
            <a:br>
              <a:rPr lang="ru-RU" sz="2000" b="1" dirty="0">
                <a:ln>
                  <a:solidFill>
                    <a:schemeClr val="bg1"/>
                  </a:solidFill>
                </a:ln>
              </a:rPr>
            </a:br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Header</a:t>
            </a:r>
          </a:p>
          <a:p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Body</a:t>
            </a:r>
            <a:endParaRPr lang="ru-RU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2" name="Стрелка вправо 31"/>
          <p:cNvSpPr/>
          <p:nvPr/>
        </p:nvSpPr>
        <p:spPr>
          <a:xfrm flipH="1">
            <a:off x="5650045" y="1289028"/>
            <a:ext cx="1121462" cy="1632319"/>
          </a:xfrm>
          <a:prstGeom prst="rightArrow">
            <a:avLst>
              <a:gd name="adj1" fmla="val 50000"/>
              <a:gd name="adj2" fmla="val 49236"/>
            </a:avLst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 smtClean="0">
                <a:ln>
                  <a:solidFill>
                    <a:schemeClr val="bg1"/>
                  </a:solidFill>
                </a:ln>
              </a:rPr>
              <a:t>HTTP</a:t>
            </a:r>
            <a:r>
              <a:rPr lang="ru-RU" sz="2000" b="1" dirty="0">
                <a:ln>
                  <a:solidFill>
                    <a:schemeClr val="bg1"/>
                  </a:solidFill>
                </a:ln>
              </a:rPr>
              <a:t/>
            </a:r>
            <a:br>
              <a:rPr lang="ru-RU" sz="2000" b="1" dirty="0">
                <a:ln>
                  <a:solidFill>
                    <a:schemeClr val="bg1"/>
                  </a:solidFill>
                </a:ln>
              </a:rPr>
            </a:br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Header</a:t>
            </a:r>
          </a:p>
          <a:p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Body</a:t>
            </a:r>
            <a:endParaRPr lang="ru-RU" sz="1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4616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Методы запроса к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47050" y="1509194"/>
            <a:ext cx="7442926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800" b="1" dirty="0"/>
              <a:t>GET </a:t>
            </a:r>
            <a:r>
              <a:rPr lang="ru-RU" sz="2800" dirty="0"/>
              <a:t>— получить данные с сервера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POST </a:t>
            </a:r>
            <a:r>
              <a:rPr lang="ru-RU" sz="2800" dirty="0"/>
              <a:t>— отправить данные (создать ресурс)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PUT </a:t>
            </a:r>
            <a:r>
              <a:rPr lang="ru-RU" sz="2800" dirty="0"/>
              <a:t>— полностью обновить ресурс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PATCH </a:t>
            </a:r>
            <a:r>
              <a:rPr lang="ru-RU" sz="2800" dirty="0"/>
              <a:t>— частично обновить ресурс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DELETE </a:t>
            </a:r>
            <a:r>
              <a:rPr lang="ru-RU" sz="2800" dirty="0"/>
              <a:t>— удалить ресурс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HEAD </a:t>
            </a:r>
            <a:r>
              <a:rPr lang="ru-RU" sz="2800" dirty="0"/>
              <a:t>— получить только заголовки (без тела)</a:t>
            </a:r>
          </a:p>
          <a:p>
            <a:pPr>
              <a:lnSpc>
                <a:spcPct val="120000"/>
              </a:lnSpc>
            </a:pPr>
            <a:r>
              <a:rPr lang="ru-RU" sz="2800" b="1" dirty="0" smtClean="0"/>
              <a:t>OPTIONS </a:t>
            </a:r>
            <a:r>
              <a:rPr lang="ru-RU" sz="2800" dirty="0"/>
              <a:t>— узнать, какие методы поддерживаются сервером</a:t>
            </a:r>
          </a:p>
        </p:txBody>
      </p:sp>
    </p:spTree>
    <p:extLst>
      <p:ext uri="{BB962C8B-B14F-4D97-AF65-F5344CB8AC3E}">
        <p14:creationId xmlns:p14="http://schemas.microsoft.com/office/powerpoint/2010/main" val="311207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583275" y="1218887"/>
            <a:ext cx="8368312" cy="179101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Получение ответа от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79" y="1494820"/>
            <a:ext cx="907642" cy="98025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01" y="1494820"/>
            <a:ext cx="907642" cy="98025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6031" y="1591312"/>
            <a:ext cx="1196797" cy="899048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1083233" y="2503419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3754443" y="2503418"/>
            <a:ext cx="21488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ru-RU" sz="22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6648068" y="2503418"/>
            <a:ext cx="2232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Браузер</a:t>
            </a:r>
          </a:p>
        </p:txBody>
      </p:sp>
      <p:graphicFrame>
        <p:nvGraphicFramePr>
          <p:cNvPr id="27" name="Схема 26"/>
          <p:cNvGraphicFramePr/>
          <p:nvPr>
            <p:extLst>
              <p:ext uri="{D42A27DB-BD31-4B8C-83A1-F6EECF244321}">
                <p14:modId xmlns:p14="http://schemas.microsoft.com/office/powerpoint/2010/main" val="8255541"/>
              </p:ext>
            </p:extLst>
          </p:nvPr>
        </p:nvGraphicFramePr>
        <p:xfrm>
          <a:off x="1667598" y="3356944"/>
          <a:ext cx="6909321" cy="254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1" name="Стрелка вправо 30"/>
          <p:cNvSpPr/>
          <p:nvPr/>
        </p:nvSpPr>
        <p:spPr>
          <a:xfrm>
            <a:off x="2896056" y="1289028"/>
            <a:ext cx="1235677" cy="1632319"/>
          </a:xfrm>
          <a:prstGeom prst="rightArrow">
            <a:avLst>
              <a:gd name="adj1" fmla="val 50000"/>
              <a:gd name="adj2" fmla="val 49236"/>
            </a:avLst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 smtClean="0">
                <a:ln>
                  <a:solidFill>
                    <a:schemeClr val="bg1"/>
                  </a:solidFill>
                </a:ln>
              </a:rPr>
              <a:t>HTTP</a:t>
            </a:r>
            <a:r>
              <a:rPr lang="ru-RU" sz="2000" b="1" dirty="0">
                <a:ln>
                  <a:solidFill>
                    <a:schemeClr val="bg1"/>
                  </a:solidFill>
                </a:ln>
              </a:rPr>
              <a:t/>
            </a:r>
            <a:br>
              <a:rPr lang="ru-RU" sz="2000" b="1" dirty="0">
                <a:ln>
                  <a:solidFill>
                    <a:schemeClr val="bg1"/>
                  </a:solidFill>
                </a:ln>
              </a:rPr>
            </a:br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Header</a:t>
            </a:r>
          </a:p>
          <a:p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Body</a:t>
            </a:r>
            <a:endParaRPr lang="ru-RU" sz="16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1" name="Стрелка вправо 20"/>
          <p:cNvSpPr/>
          <p:nvPr/>
        </p:nvSpPr>
        <p:spPr>
          <a:xfrm>
            <a:off x="5648532" y="1289027"/>
            <a:ext cx="1235677" cy="1632319"/>
          </a:xfrm>
          <a:prstGeom prst="rightArrow">
            <a:avLst>
              <a:gd name="adj1" fmla="val 50000"/>
              <a:gd name="adj2" fmla="val 49236"/>
            </a:avLst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 smtClean="0">
                <a:ln>
                  <a:solidFill>
                    <a:schemeClr val="bg1"/>
                  </a:solidFill>
                </a:ln>
              </a:rPr>
              <a:t>HTTP</a:t>
            </a:r>
            <a:r>
              <a:rPr lang="ru-RU" sz="2000" b="1" dirty="0">
                <a:ln>
                  <a:solidFill>
                    <a:schemeClr val="bg1"/>
                  </a:solidFill>
                </a:ln>
              </a:rPr>
              <a:t/>
            </a:r>
            <a:br>
              <a:rPr lang="ru-RU" sz="2000" b="1" dirty="0">
                <a:ln>
                  <a:solidFill>
                    <a:schemeClr val="bg1"/>
                  </a:solidFill>
                </a:ln>
              </a:rPr>
            </a:br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Header</a:t>
            </a:r>
          </a:p>
          <a:p>
            <a:r>
              <a:rPr lang="en-US" sz="1600" b="1" dirty="0" smtClean="0">
                <a:ln>
                  <a:solidFill>
                    <a:schemeClr val="bg1"/>
                  </a:solidFill>
                </a:ln>
              </a:rPr>
              <a:t>Body</a:t>
            </a:r>
            <a:endParaRPr lang="ru-RU" sz="1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8323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5" y="12750"/>
            <a:ext cx="11767069" cy="6845300"/>
            <a:chOff x="10631" y="9562"/>
            <a:chExt cx="8825302" cy="513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719" y="4163381"/>
              <a:ext cx="1232214" cy="3980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31" y="4933762"/>
              <a:ext cx="6703059" cy="0"/>
            </a:xfrm>
            <a:custGeom>
              <a:avLst/>
              <a:gdLst/>
              <a:ahLst/>
              <a:cxnLst/>
              <a:rect l="l" t="t" r="r" b="b"/>
              <a:pathLst>
                <a:path w="6703059">
                  <a:moveTo>
                    <a:pt x="67028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18406" y="9562"/>
              <a:ext cx="19050" cy="5133975"/>
            </a:xfrm>
            <a:custGeom>
              <a:avLst/>
              <a:gdLst/>
              <a:ahLst/>
              <a:cxnLst/>
              <a:rect l="l" t="t" r="r" b="b"/>
              <a:pathLst>
                <a:path w="19050" h="5133975">
                  <a:moveTo>
                    <a:pt x="0" y="0"/>
                  </a:moveTo>
                  <a:lnTo>
                    <a:pt x="19049" y="0"/>
                  </a:lnTo>
                  <a:lnTo>
                    <a:pt x="19049" y="5133937"/>
                  </a:lnTo>
                  <a:lnTo>
                    <a:pt x="0" y="5133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74451" y="6385135"/>
            <a:ext cx="27067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Tahoma"/>
                <a:cs typeface="Tahoma"/>
              </a:rPr>
              <a:t>УНИВЕРСИТЕТ ИСКУССТВЕННОГО ИНТЕЛЛЕКТА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7944" y="205153"/>
            <a:ext cx="7993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Статусы ответа от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8951588" y="12750"/>
            <a:ext cx="3240412" cy="6285901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68" y="1788288"/>
            <a:ext cx="1805532" cy="36706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2586" y="969035"/>
            <a:ext cx="372249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u="sng" dirty="0"/>
              <a:t>1xx — Информационные</a:t>
            </a:r>
          </a:p>
          <a:p>
            <a:r>
              <a:rPr lang="ru-RU" sz="1700" b="1" dirty="0"/>
              <a:t>100</a:t>
            </a:r>
            <a:r>
              <a:rPr lang="ru-RU" sz="1700" dirty="0"/>
              <a:t> Continue — сервер получил </a:t>
            </a:r>
            <a:r>
              <a:rPr lang="ru-RU" sz="1700" dirty="0" smtClean="0"/>
              <a:t>заголовки</a:t>
            </a:r>
          </a:p>
          <a:p>
            <a:r>
              <a:rPr lang="ru-RU" sz="1700" b="1" dirty="0" smtClean="0"/>
              <a:t>101</a:t>
            </a:r>
            <a:r>
              <a:rPr lang="ru-RU" sz="1700" dirty="0" smtClean="0"/>
              <a:t> </a:t>
            </a:r>
            <a:r>
              <a:rPr lang="ru-RU" sz="1700" dirty="0"/>
              <a:t>Switching Protocols — сервер меняет протокол</a:t>
            </a:r>
          </a:p>
          <a:p>
            <a:endParaRPr lang="ru-RU" sz="1700" b="1" u="sng" dirty="0" smtClean="0"/>
          </a:p>
          <a:p>
            <a:r>
              <a:rPr lang="ru-RU" sz="1700" b="1" u="sng" dirty="0" smtClean="0"/>
              <a:t>2xx Успех</a:t>
            </a:r>
            <a:endParaRPr lang="ru-RU" sz="1700" b="1" u="sng" dirty="0"/>
          </a:p>
          <a:p>
            <a:r>
              <a:rPr lang="ru-RU" sz="1700" b="1" dirty="0" smtClean="0"/>
              <a:t>200</a:t>
            </a:r>
            <a:r>
              <a:rPr lang="ru-RU" sz="1700" dirty="0" smtClean="0"/>
              <a:t> </a:t>
            </a:r>
            <a:r>
              <a:rPr lang="ru-RU" sz="1700" dirty="0"/>
              <a:t>OK — запрос успешно </a:t>
            </a:r>
            <a:r>
              <a:rPr lang="ru-RU" sz="1700" dirty="0" smtClean="0"/>
              <a:t>выполнен</a:t>
            </a:r>
            <a:endParaRPr lang="ru-RU" sz="1700" dirty="0"/>
          </a:p>
          <a:p>
            <a:r>
              <a:rPr lang="ru-RU" sz="1700" b="1" dirty="0" smtClean="0"/>
              <a:t>201</a:t>
            </a:r>
            <a:r>
              <a:rPr lang="ru-RU" sz="1700" dirty="0" smtClean="0"/>
              <a:t> </a:t>
            </a:r>
            <a:r>
              <a:rPr lang="ru-RU" sz="1700" dirty="0"/>
              <a:t>Created — ресурс успешно </a:t>
            </a:r>
            <a:r>
              <a:rPr lang="ru-RU" sz="1700" dirty="0" smtClean="0"/>
              <a:t>создан</a:t>
            </a:r>
          </a:p>
          <a:p>
            <a:r>
              <a:rPr lang="ru-RU" sz="1700" b="1" dirty="0" smtClean="0"/>
              <a:t>202</a:t>
            </a:r>
            <a:r>
              <a:rPr lang="ru-RU" sz="1700" dirty="0" smtClean="0"/>
              <a:t> Accepted — запрос принят</a:t>
            </a:r>
          </a:p>
          <a:p>
            <a:r>
              <a:rPr lang="ru-RU" sz="1700" b="1" dirty="0" smtClean="0"/>
              <a:t>204</a:t>
            </a:r>
            <a:r>
              <a:rPr lang="ru-RU" sz="1700" dirty="0" smtClean="0"/>
              <a:t> </a:t>
            </a:r>
            <a:r>
              <a:rPr lang="ru-RU" sz="1700" dirty="0"/>
              <a:t>No Content — успешно </a:t>
            </a:r>
            <a:r>
              <a:rPr lang="ru-RU" sz="1700" dirty="0" smtClean="0"/>
              <a:t>выполнено</a:t>
            </a:r>
            <a:endParaRPr lang="ru-RU" sz="1700" dirty="0"/>
          </a:p>
          <a:p>
            <a:endParaRPr lang="ru-RU" sz="1700" dirty="0"/>
          </a:p>
          <a:p>
            <a:r>
              <a:rPr lang="ru-RU" sz="1700" b="1" u="sng" dirty="0" smtClean="0"/>
              <a:t>3xx Перенаправления</a:t>
            </a:r>
            <a:endParaRPr lang="ru-RU" sz="1700" b="1" u="sng" dirty="0"/>
          </a:p>
          <a:p>
            <a:r>
              <a:rPr lang="ru-RU" sz="1700" b="1" dirty="0" smtClean="0"/>
              <a:t>301</a:t>
            </a:r>
            <a:r>
              <a:rPr lang="ru-RU" sz="1700" dirty="0" smtClean="0"/>
              <a:t> </a:t>
            </a:r>
            <a:r>
              <a:rPr lang="ru-RU" sz="1700" dirty="0"/>
              <a:t>Moved Permanently — ресурс перемещён на другой </a:t>
            </a:r>
            <a:r>
              <a:rPr lang="ru-RU" sz="1700" dirty="0" smtClean="0"/>
              <a:t>URL</a:t>
            </a:r>
            <a:endParaRPr lang="ru-RU" sz="1700" dirty="0"/>
          </a:p>
          <a:p>
            <a:r>
              <a:rPr lang="ru-RU" sz="1700" b="1" dirty="0" smtClean="0"/>
              <a:t>302</a:t>
            </a:r>
            <a:r>
              <a:rPr lang="ru-RU" sz="1700" dirty="0" smtClean="0"/>
              <a:t> </a:t>
            </a:r>
            <a:r>
              <a:rPr lang="ru-RU" sz="1700" dirty="0"/>
              <a:t>Found — временное </a:t>
            </a:r>
            <a:r>
              <a:rPr lang="ru-RU" sz="1700" dirty="0" smtClean="0"/>
              <a:t>перенаправление</a:t>
            </a:r>
            <a:endParaRPr lang="ru-RU" sz="1700" dirty="0"/>
          </a:p>
          <a:p>
            <a:r>
              <a:rPr lang="ru-RU" sz="1700" b="1" dirty="0" smtClean="0"/>
              <a:t>304</a:t>
            </a:r>
            <a:r>
              <a:rPr lang="ru-RU" sz="1700" dirty="0" smtClean="0"/>
              <a:t> </a:t>
            </a:r>
            <a:r>
              <a:rPr lang="ru-RU" sz="1700" dirty="0"/>
              <a:t>Not Modified — ресурс не </a:t>
            </a:r>
            <a:r>
              <a:rPr lang="ru-RU" sz="1700" dirty="0" smtClean="0"/>
              <a:t>изменился</a:t>
            </a:r>
            <a:endParaRPr lang="ru-RU" sz="1700" dirty="0"/>
          </a:p>
        </p:txBody>
      </p:sp>
      <p:sp>
        <p:nvSpPr>
          <p:cNvPr id="28" name="TextBox 27"/>
          <p:cNvSpPr txBox="1"/>
          <p:nvPr/>
        </p:nvSpPr>
        <p:spPr>
          <a:xfrm>
            <a:off x="4950942" y="969035"/>
            <a:ext cx="385530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u="sng" dirty="0"/>
              <a:t>4xx </a:t>
            </a:r>
            <a:r>
              <a:rPr lang="ru-RU" sz="1700" b="1" u="sng" dirty="0" smtClean="0"/>
              <a:t>Ошибки </a:t>
            </a:r>
            <a:r>
              <a:rPr lang="ru-RU" sz="1700" b="1" u="sng" dirty="0"/>
              <a:t>клиента</a:t>
            </a:r>
          </a:p>
          <a:p>
            <a:r>
              <a:rPr lang="ru-RU" sz="1700" b="1" dirty="0"/>
              <a:t>400</a:t>
            </a:r>
            <a:r>
              <a:rPr lang="ru-RU" sz="1700" dirty="0"/>
              <a:t> Bad Request — ошибка </a:t>
            </a:r>
            <a:r>
              <a:rPr lang="ru-RU" sz="1700" dirty="0" smtClean="0"/>
              <a:t>запроса</a:t>
            </a:r>
            <a:endParaRPr lang="ru-RU" sz="1700" dirty="0"/>
          </a:p>
          <a:p>
            <a:r>
              <a:rPr lang="ru-RU" sz="1700" b="1" dirty="0"/>
              <a:t>401</a:t>
            </a:r>
            <a:r>
              <a:rPr lang="ru-RU" sz="1700" dirty="0"/>
              <a:t> Unauthorized — нет </a:t>
            </a:r>
            <a:r>
              <a:rPr lang="ru-RU" sz="1700" dirty="0" smtClean="0"/>
              <a:t>авторизации</a:t>
            </a:r>
            <a:endParaRPr lang="en-US" sz="1700" dirty="0" smtClean="0"/>
          </a:p>
          <a:p>
            <a:r>
              <a:rPr lang="ru-RU" sz="1700" b="1" dirty="0" smtClean="0"/>
              <a:t>403 </a:t>
            </a:r>
            <a:r>
              <a:rPr lang="ru-RU" sz="1700" dirty="0"/>
              <a:t>Forbidden — доступ </a:t>
            </a:r>
            <a:r>
              <a:rPr lang="ru-RU" sz="1700" dirty="0" smtClean="0"/>
              <a:t>запрещён</a:t>
            </a:r>
            <a:endParaRPr lang="ru-RU" sz="1700" dirty="0"/>
          </a:p>
          <a:p>
            <a:r>
              <a:rPr lang="ru-RU" sz="1700" b="1" dirty="0"/>
              <a:t>404</a:t>
            </a:r>
            <a:r>
              <a:rPr lang="ru-RU" sz="1700" dirty="0"/>
              <a:t> Not Found — ресурс не </a:t>
            </a:r>
            <a:r>
              <a:rPr lang="ru-RU" sz="1700" dirty="0" smtClean="0"/>
              <a:t>найден</a:t>
            </a:r>
            <a:endParaRPr lang="ru-RU" sz="1700" dirty="0"/>
          </a:p>
          <a:p>
            <a:r>
              <a:rPr lang="ru-RU" sz="1700" b="1" dirty="0"/>
              <a:t>405</a:t>
            </a:r>
            <a:r>
              <a:rPr lang="ru-RU" sz="1700" dirty="0"/>
              <a:t> Method Not Allowed — метод запроса не разрешён для этого </a:t>
            </a:r>
            <a:r>
              <a:rPr lang="ru-RU" sz="1700" dirty="0" smtClean="0"/>
              <a:t>URL</a:t>
            </a:r>
            <a:endParaRPr lang="ru-RU" sz="1700" dirty="0"/>
          </a:p>
          <a:p>
            <a:r>
              <a:rPr lang="ru-RU" sz="1700" b="1" dirty="0"/>
              <a:t>409</a:t>
            </a:r>
            <a:r>
              <a:rPr lang="ru-RU" sz="1700" dirty="0"/>
              <a:t> Conflict — конфликт </a:t>
            </a:r>
            <a:r>
              <a:rPr lang="ru-RU" sz="1700" dirty="0" smtClean="0"/>
              <a:t>данных</a:t>
            </a:r>
            <a:endParaRPr lang="ru-RU" sz="1700" dirty="0"/>
          </a:p>
          <a:p>
            <a:endParaRPr lang="ru-RU" sz="1700" dirty="0"/>
          </a:p>
          <a:p>
            <a:r>
              <a:rPr lang="ru-RU" sz="1700" b="1" u="sng" dirty="0"/>
              <a:t>5xx </a:t>
            </a:r>
            <a:r>
              <a:rPr lang="ru-RU" sz="1700" b="1" u="sng" dirty="0" smtClean="0"/>
              <a:t>Ошибки </a:t>
            </a:r>
            <a:r>
              <a:rPr lang="ru-RU" sz="1700" b="1" u="sng" dirty="0"/>
              <a:t>сервера</a:t>
            </a:r>
          </a:p>
          <a:p>
            <a:r>
              <a:rPr lang="ru-RU" sz="1700" b="1" dirty="0"/>
              <a:t>500</a:t>
            </a:r>
            <a:r>
              <a:rPr lang="ru-RU" sz="1700" dirty="0"/>
              <a:t> Internal Server Error — внутренняя ошибка </a:t>
            </a:r>
            <a:r>
              <a:rPr lang="ru-RU" sz="1700" dirty="0" smtClean="0"/>
              <a:t>сервера</a:t>
            </a:r>
            <a:endParaRPr lang="ru-RU" sz="1700" dirty="0"/>
          </a:p>
          <a:p>
            <a:r>
              <a:rPr lang="ru-RU" sz="1700" b="1" dirty="0"/>
              <a:t>502</a:t>
            </a:r>
            <a:r>
              <a:rPr lang="ru-RU" sz="1700" dirty="0"/>
              <a:t> Bad Gateway — сервер получил некорректный ответ от другого </a:t>
            </a:r>
            <a:r>
              <a:rPr lang="ru-RU" sz="1700" dirty="0" smtClean="0"/>
              <a:t>сервера</a:t>
            </a:r>
            <a:endParaRPr lang="ru-RU" sz="1700" dirty="0"/>
          </a:p>
          <a:p>
            <a:r>
              <a:rPr lang="ru-RU" sz="1700" b="1" dirty="0"/>
              <a:t>503</a:t>
            </a:r>
            <a:r>
              <a:rPr lang="ru-RU" sz="1700" dirty="0"/>
              <a:t> Service Unavailable — сервер временно недоступен (например, техработы</a:t>
            </a:r>
            <a:r>
              <a:rPr lang="ru-RU" sz="1700" dirty="0" smtClean="0"/>
              <a:t>)</a:t>
            </a:r>
            <a:endParaRPr lang="ru-RU" sz="1700" dirty="0"/>
          </a:p>
          <a:p>
            <a:r>
              <a:rPr lang="ru-RU" sz="1700" b="1" dirty="0"/>
              <a:t>504</a:t>
            </a:r>
            <a:r>
              <a:rPr lang="ru-RU" sz="1700" dirty="0"/>
              <a:t> Gateway Timeout — сервер не получил ответ от другого сервиса </a:t>
            </a:r>
            <a:r>
              <a:rPr lang="ru-RU" sz="1700" dirty="0" smtClean="0"/>
              <a:t>вовремя</a:t>
            </a:r>
            <a:endParaRPr lang="ru-RU" sz="1700" dirty="0"/>
          </a:p>
        </p:txBody>
      </p:sp>
    </p:spTree>
    <p:extLst>
      <p:ext uri="{BB962C8B-B14F-4D97-AF65-F5344CB8AC3E}">
        <p14:creationId xmlns:p14="http://schemas.microsoft.com/office/powerpoint/2010/main" val="37145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11905</TotalTime>
  <Words>836</Words>
  <Application>Microsoft Office PowerPoint</Application>
  <PresentationFormat>Широкоэкранный</PresentationFormat>
  <Paragraphs>146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Yu Gothic UI Light</vt:lpstr>
      <vt:lpstr>Arial</vt:lpstr>
      <vt:lpstr>Calibri</vt:lpstr>
      <vt:lpstr>Calibri Light</vt:lpstr>
      <vt:lpstr>Tahoma</vt:lpstr>
      <vt:lpstr>Тема Office</vt:lpstr>
      <vt:lpstr>Основы FastApi  для Backend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М.Ю. Деркунов</dc:creator>
  <cp:lastModifiedBy>Алексей Смирнов</cp:lastModifiedBy>
  <cp:revision>132</cp:revision>
  <cp:lastPrinted>2025-08-17T13:11:30Z</cp:lastPrinted>
  <dcterms:created xsi:type="dcterms:W3CDTF">2024-03-20T02:20:55Z</dcterms:created>
  <dcterms:modified xsi:type="dcterms:W3CDTF">2026-01-21T14:13:03Z</dcterms:modified>
</cp:coreProperties>
</file>